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de : problème et découpage" id="{da75c77b-0a07-87da-4479-b4072afec4e5}">
          <p14:sldIdLst>
            <p14:sldId id="256"/>
            <p14:sldId id="257"/>
            <p14:sldId id="258"/>
          </p14:sldIdLst>
        </p14:section>
        <p14:section name="Ascelle : features et modèles" id="{d9316a7f-c954-1270-382b-6aca408d0e42}">
          <p14:sldIdLst>
            <p14:sldId id="259"/>
            <p14:sldId id="260"/>
          </p14:sldIdLst>
        </p14:section>
        <p14:section name="Seyni : résultats et conclusion" id="{0f66bd01-cb6a-8bbf-0725-6712ab4af2ee}">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B2233"/>
                </a:solidFill>
                <a:latin typeface="+mn-lt"/>
              </a:defRPr>
            </a:pPr>
            <a:r>
              <a:rPr sz="1500" b="1" i="0" u="none" strike="noStrike">
                <a:solidFill>
                  <a:srgbClr val="0B2233"/>
                </a:solidFill>
                <a:latin typeface="+mn-lt"/>
              </a:rPr>
              <a:t>Erreur sur le test (1 - F1 macro, en %)</a:t>
            </a:r>
          </a:p>
        </c:rich>
      </c:tx>
      <c:layout/>
      <c:overlay val="0"/>
    </c:title>
    <c:autoTitleDeleted val="0"/>
    <c:plotArea>
      <c:layout/>
      <c:barChart>
        <c:barDir val="col"/>
        <c:grouping val="clustered"/>
        <c:varyColors val="0"/>
        <c:ser>
          <c:idx val="0"/>
          <c:order val="0"/>
          <c:tx>
            <c:strRef>
              <c:f>Sheet1!$B$1</c:f>
              <c:strCache>
                <c:ptCount val="1"/>
                <c:pt idx="0">
                  <c:v>Tirage aléatoire 80 / 20</c:v>
                </c:pt>
              </c:strCache>
            </c:strRef>
          </c:tx>
          <c:spPr>
            <a:solidFill>
              <a:srgbClr val="B8C4CC"/>
            </a:solidFill>
            <a:effectLst/>
          </c:spPr>
          <c:invertIfNegative val="0"/>
          <c:dLbls>
            <c:numFmt formatCode="0.0" sourceLinked="0"/>
            <c:txPr>
              <a:bodyPr/>
              <a:lstStyle/>
              <a:p>
                <a:pPr>
                  <a:defRPr b="1" i="0" strike="noStrike" sz="1300" u="none">
                    <a:solidFill>
                      <a:srgbClr val="1A2B36"/>
                    </a:solidFill>
                    <a:latin typeface="+mn-lt"/>
                  </a:defRPr>
                </a:pPr>
              </a:p>
            </c:txPr>
            <c:showLegendKey val="0"/>
            <c:showVal val="1"/>
            <c:showCatName val="0"/>
            <c:showSerName val="0"/>
            <c:showPercent val="0"/>
            <c:showBubbleSize val="0"/>
            <c:showLeaderLines val="0"/>
          </c:dLbls>
          <c:cat>
            <c:multiLvlStrRef>
              <c:f>Sheet1!$A$2:$A$4</c:f>
              <c:multiLvlStrCache>
                <c:ptCount val="3"/>
                <c:lvl>
                  <c:pt idx="0">
                    <c:v>Arbre de décision</c:v>
                  </c:pt>
                  <c:pt idx="1">
                    <c:v>Régression logistique</c:v>
                  </c:pt>
                  <c:pt idx="2">
                    <c:v>Gradient boosting</c:v>
                  </c:pt>
                </c:lvl>
              </c:multiLvlStrCache>
            </c:multiLvlStrRef>
          </c:cat>
          <c:val>
            <c:numRef>
              <c:f>Sheet1!$B$2:$B$4</c:f>
              <c:numCache>
                <c:formatCode>General</c:formatCode>
                <c:ptCount val="3"/>
                <c:pt idx="0">
                  <c:v>0.2</c:v>
                </c:pt>
                <c:pt idx="1">
                  <c:v>0.9</c:v>
                </c:pt>
                <c:pt idx="2">
                  <c:v>0.2</c:v>
                </c:pt>
              </c:numCache>
            </c:numRef>
          </c:val>
        </c:ser>
        <c:ser>
          <c:idx val="1"/>
          <c:order val="1"/>
          <c:tx>
            <c:strRef>
              <c:f>Sheet1!$C$1</c:f>
              <c:strCache>
                <c:ptCount val="1"/>
                <c:pt idx="0">
                  <c:v>Découpage de l'énoncé</c:v>
                </c:pt>
              </c:strCache>
            </c:strRef>
          </c:tx>
          <c:spPr>
            <a:solidFill>
              <a:srgbClr val="1C7C7D"/>
            </a:solidFill>
            <a:effectLst/>
          </c:spPr>
          <c:invertIfNegative val="0"/>
          <c:dLbls>
            <c:numFmt formatCode="0.0" sourceLinked="0"/>
            <c:txPr>
              <a:bodyPr/>
              <a:lstStyle/>
              <a:p>
                <a:pPr>
                  <a:defRPr b="1" i="0" strike="noStrike" sz="1300" u="none">
                    <a:solidFill>
                      <a:srgbClr val="1A2B36"/>
                    </a:solidFill>
                    <a:latin typeface="+mn-lt"/>
                  </a:defRPr>
                </a:pPr>
              </a:p>
            </c:txPr>
            <c:showLegendKey val="0"/>
            <c:showVal val="1"/>
            <c:showCatName val="0"/>
            <c:showSerName val="0"/>
            <c:showPercent val="0"/>
            <c:showBubbleSize val="0"/>
            <c:showLeaderLines val="0"/>
          </c:dLbls>
          <c:cat>
            <c:multiLvlStrRef>
              <c:f>Sheet1!$A$2:$A$4</c:f>
              <c:multiLvlStrCache>
                <c:ptCount val="3"/>
                <c:lvl>
                  <c:pt idx="0">
                    <c:v>Arbre de décision</c:v>
                  </c:pt>
                  <c:pt idx="1">
                    <c:v>Régression logistique</c:v>
                  </c:pt>
                  <c:pt idx="2">
                    <c:v>Gradient boosting</c:v>
                  </c:pt>
                </c:lvl>
              </c:multiLvlStrCache>
            </c:multiLvlStrRef>
          </c:cat>
          <c:val>
            <c:numRef>
              <c:f>Sheet1!$C$2:$C$4</c:f>
              <c:numCache>
                <c:formatCode>General</c:formatCode>
                <c:ptCount val="3"/>
                <c:pt idx="0">
                  <c:v>4.7</c:v>
                </c:pt>
                <c:pt idx="1">
                  <c:v>5.7</c:v>
                </c:pt>
                <c:pt idx="2">
                  <c:v>2.1</c:v>
                </c:pt>
              </c:numCache>
            </c:numRef>
          </c:val>
        </c:ser>
        <c:dLbls>
          <c:numFmt formatCode="0.0" sourceLinked="0"/>
          <c:txPr>
            <a:bodyPr/>
            <a:lstStyle/>
            <a:p>
              <a:pPr>
                <a:defRPr b="1" i="0" strike="noStrike" sz="1300" u="none">
                  <a:solidFill>
                    <a:srgbClr val="1A2B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300" b="0" i="0" u="none" strike="noStrike">
                <a:solidFill>
                  <a:srgbClr val="5B6B76"/>
                </a:solidFill>
                <a:latin typeface="+mn-lt"/>
              </a:defRPr>
            </a:pPr>
            <a:endParaRPr lang="en-US"/>
          </a:p>
        </c:txPr>
        <c:crossAx val="2094734552"/>
        <c:crosses val="autoZero"/>
        <c:auto val="1"/>
        <c:lblAlgn val="ctr"/>
        <c:noMultiLvlLbl val="1"/>
      </c:catAx>
      <c:valAx>
        <c:axId val="2094734552"/>
        <c:scaling>
          <c:orientation val="minMax"/>
          <c:max val="6.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5B6B7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B2233"/>
                </a:solidFill>
                <a:latin typeface="+mn-lt"/>
              </a:defRPr>
            </a:pPr>
            <a:r>
              <a:rPr sz="1500" b="1" i="0" u="none" strike="noStrike">
                <a:solidFill>
                  <a:srgbClr val="0B2233"/>
                </a:solidFill>
                <a:latin typeface="+mn-lt"/>
              </a:rPr>
              <a:t>Erreur moyenne en validation croisée (%, 12 modèles)</a:t>
            </a:r>
          </a:p>
        </c:rich>
      </c:tx>
      <c:layout/>
      <c:overlay val="0"/>
    </c:title>
    <c:autoTitleDeleted val="0"/>
    <c:plotArea>
      <c:layout/>
      <c:barChart>
        <c:barDir val="col"/>
        <c:grouping val="clustered"/>
        <c:varyColors val="0"/>
        <c:ser>
          <c:idx val="0"/>
          <c:order val="0"/>
          <c:tx>
            <c:strRef>
              <c:f>Sheet1!$B$1</c:f>
              <c:strCache>
                <c:ptCount val="1"/>
                <c:pt idx="0">
                  <c:v>Erreur moyenne</c:v>
                </c:pt>
              </c:strCache>
            </c:strRef>
          </c:tx>
          <c:spPr>
            <a:solidFill>
              <a:srgbClr val="B8C4CC"/>
            </a:solidFill>
            <a:effectLst/>
          </c:spPr>
          <c:invertIfNegative val="0"/>
          <c:dLbls>
            <c:numFmt formatCode="0.0" sourceLinked="0"/>
            <c:txPr>
              <a:bodyPr/>
              <a:lstStyle/>
              <a:p>
                <a:pPr>
                  <a:defRPr b="1" i="0" strike="noStrike" sz="1300" u="none">
                    <a:solidFill>
                      <a:srgbClr val="1A2B36"/>
                    </a:solidFill>
                    <a:latin typeface="+mn-lt"/>
                  </a:defRPr>
                </a:pPr>
              </a:p>
            </c:txPr>
            <c:showLegendKey val="0"/>
            <c:showVal val="1"/>
            <c:showCatName val="0"/>
            <c:showSerName val="0"/>
            <c:showPercent val="0"/>
            <c:showBubbleSize val="0"/>
            <c:showLeaderLines val="0"/>
          </c:dLbls>
          <c:dPt>
            <c:idx val="0"/>
            <c:invertIfNegative val="0"/>
            <c:bubble3D val="0"/>
            <c:spPr>
              <a:solidFill>
                <a:srgbClr val="B8C4CC"/>
              </a:solidFill>
              <a:effectLst/>
            </c:spPr>
          </c:dPt>
          <c:dPt>
            <c:idx val="1"/>
            <c:invertIfNegative val="0"/>
            <c:bubble3D val="0"/>
            <c:spPr>
              <a:solidFill>
                <a:srgbClr val="B8C4CC"/>
              </a:solidFill>
              <a:effectLst/>
            </c:spPr>
          </c:dPt>
          <c:dPt>
            <c:idx val="2"/>
            <c:invertIfNegative val="0"/>
            <c:bubble3D val="0"/>
            <c:spPr>
              <a:solidFill>
                <a:srgbClr val="B8C4CC"/>
              </a:solidFill>
              <a:effectLst/>
            </c:spPr>
          </c:dPt>
          <c:dPt>
            <c:idx val="3"/>
            <c:invertIfNegative val="0"/>
            <c:bubble3D val="0"/>
            <c:spPr>
              <a:solidFill>
                <a:srgbClr val="1C7C7D"/>
              </a:solidFill>
              <a:effectLst/>
            </c:spPr>
          </c:dPt>
          <c:cat>
            <c:multiLvlStrRef>
              <c:f>Sheet1!$A$2:$A$5</c:f>
              <c:multiLvlStrCache>
                <c:ptCount val="4"/>
                <c:lvl>
                  <c:pt idx="0">
                    <c:v>Statistiques (7)</c:v>
                  </c:pt>
                  <c:pt idx="1">
                    <c:v>Spectre (3)</c:v>
                  </c:pt>
                  <c:pt idx="2">
                    <c:v>Statistiques + spectre (9)</c:v>
                  </c:pt>
                  <c:pt idx="3">
                    <c:v>Histogramme (14)</c:v>
                  </c:pt>
                </c:lvl>
              </c:multiLvlStrCache>
            </c:multiLvlStrRef>
          </c:cat>
          <c:val>
            <c:numRef>
              <c:f>Sheet1!$B$2:$B$5</c:f>
              <c:numCache>
                <c:formatCode>General</c:formatCode>
                <c:ptCount val="4"/>
                <c:pt idx="0">
                  <c:v>11.6</c:v>
                </c:pt>
                <c:pt idx="1">
                  <c:v>8.3</c:v>
                </c:pt>
                <c:pt idx="2">
                  <c:v>4.3</c:v>
                </c:pt>
                <c:pt idx="3">
                  <c:v>1.9</c:v>
                </c:pt>
              </c:numCache>
            </c:numRef>
          </c:val>
        </c:ser>
        <c:dLbls>
          <c:numFmt formatCode="0.0" sourceLinked="0"/>
          <c:txPr>
            <a:bodyPr/>
            <a:lstStyle/>
            <a:p>
              <a:pPr>
                <a:defRPr b="1" i="0" strike="noStrike" sz="1300" u="none">
                  <a:solidFill>
                    <a:srgbClr val="1A2B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300" b="0" i="0" u="none" strike="noStrike">
                <a:solidFill>
                  <a:srgbClr val="5B6B76"/>
                </a:solidFill>
                <a:latin typeface="+mn-lt"/>
              </a:defRPr>
            </a:pPr>
            <a:endParaRPr lang="en-US"/>
          </a:p>
        </c:txPr>
        <c:crossAx val="2094734552"/>
        <c:crosses val="autoZero"/>
        <c:auto val="1"/>
        <c:lblAlgn val="ctr"/>
        <c:noMultiLvlLbl val="1"/>
      </c:catAx>
      <c:valAx>
        <c:axId val="2094734552"/>
        <c:scaling>
          <c:orientation val="minMax"/>
          <c:max val="13"/>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B2233"/>
                </a:solidFill>
                <a:latin typeface="+mn-lt"/>
              </a:defRPr>
            </a:pPr>
            <a:r>
              <a:rPr sz="1500" b="1" i="0" u="none" strike="noStrike">
                <a:solidFill>
                  <a:srgbClr val="0B2233"/>
                </a:solidFill>
                <a:latin typeface="+mn-lt"/>
              </a:rPr>
              <a:t>Erreur en validation croisée après réglage (%)</a:t>
            </a:r>
          </a:p>
        </c:rich>
      </c:tx>
      <c:layout/>
      <c:overlay val="0"/>
    </c:title>
    <c:autoTitleDeleted val="0"/>
    <c:plotArea>
      <c:layout/>
      <c:barChart>
        <c:barDir val="bar"/>
        <c:grouping val="clustered"/>
        <c:varyColors val="0"/>
        <c:ser>
          <c:idx val="0"/>
          <c:order val="0"/>
          <c:tx>
            <c:strRef>
              <c:f>Sheet1!$B$1</c:f>
              <c:strCache>
                <c:ptCount val="1"/>
                <c:pt idx="0">
                  <c:v>Erreur</c:v>
                </c:pt>
              </c:strCache>
            </c:strRef>
          </c:tx>
          <c:spPr>
            <a:solidFill>
              <a:srgbClr val="1C7C7D"/>
            </a:solidFill>
            <a:effectLst/>
          </c:spPr>
          <c:invertIfNegative val="0"/>
          <c:dLbls>
            <c:numFmt formatCode="0.00" sourceLinked="0"/>
            <c:txPr>
              <a:bodyPr/>
              <a:lstStyle/>
              <a:p>
                <a:pPr>
                  <a:defRPr b="1" i="0" strike="noStrike" sz="1200" u="none">
                    <a:solidFill>
                      <a:srgbClr val="1A2B36"/>
                    </a:solidFill>
                    <a:latin typeface="+mn-lt"/>
                  </a:defRPr>
                </a:pPr>
              </a:p>
            </c:txPr>
            <c:showLegendKey val="0"/>
            <c:showVal val="1"/>
            <c:showCatName val="0"/>
            <c:showSerName val="0"/>
            <c:showPercent val="0"/>
            <c:showBubbleSize val="0"/>
            <c:showLeaderLines val="0"/>
          </c:dLbls>
          <c:dPt>
            <c:idx val="0"/>
            <c:invertIfNegative val="0"/>
            <c:bubble3D val="0"/>
            <c:spPr>
              <a:solidFill>
                <a:srgbClr val="1C7C7D"/>
              </a:solidFill>
              <a:effectLst/>
            </c:spPr>
          </c:dPt>
          <c:dPt>
            <c:idx val="1"/>
            <c:invertIfNegative val="0"/>
            <c:bubble3D val="0"/>
            <c:spPr>
              <a:solidFill>
                <a:srgbClr val="B8C4CC"/>
              </a:solidFill>
              <a:effectLst/>
            </c:spPr>
          </c:dPt>
          <c:dPt>
            <c:idx val="2"/>
            <c:invertIfNegative val="0"/>
            <c:bubble3D val="0"/>
            <c:spPr>
              <a:solidFill>
                <a:srgbClr val="B8C4CC"/>
              </a:solidFill>
              <a:effectLst/>
            </c:spPr>
          </c:dPt>
          <c:dPt>
            <c:idx val="3"/>
            <c:invertIfNegative val="0"/>
            <c:bubble3D val="0"/>
            <c:spPr>
              <a:solidFill>
                <a:srgbClr val="B8C4CC"/>
              </a:solidFill>
              <a:effectLst/>
            </c:spPr>
          </c:dPt>
          <c:dPt>
            <c:idx val="4"/>
            <c:invertIfNegative val="0"/>
            <c:bubble3D val="0"/>
            <c:spPr>
              <a:solidFill>
                <a:srgbClr val="B8C4CC"/>
              </a:solidFill>
              <a:effectLst/>
            </c:spPr>
          </c:dPt>
          <c:dPt>
            <c:idx val="5"/>
            <c:invertIfNegative val="0"/>
            <c:bubble3D val="0"/>
            <c:spPr>
              <a:solidFill>
                <a:srgbClr val="B8C4CC"/>
              </a:solidFill>
              <a:effectLst/>
            </c:spPr>
          </c:dPt>
          <c:dPt>
            <c:idx val="6"/>
            <c:invertIfNegative val="0"/>
            <c:bubble3D val="0"/>
            <c:spPr>
              <a:solidFill>
                <a:srgbClr val="B8C4CC"/>
              </a:solidFill>
              <a:effectLst/>
            </c:spPr>
          </c:dPt>
          <c:dPt>
            <c:idx val="7"/>
            <c:invertIfNegative val="0"/>
            <c:bubble3D val="0"/>
            <c:spPr>
              <a:solidFill>
                <a:srgbClr val="B8C4CC"/>
              </a:solidFill>
              <a:effectLst/>
            </c:spPr>
          </c:dPt>
          <c:dPt>
            <c:idx val="8"/>
            <c:invertIfNegative val="0"/>
            <c:bubble3D val="0"/>
            <c:spPr>
              <a:solidFill>
                <a:srgbClr val="B8C4CC"/>
              </a:solidFill>
              <a:effectLst/>
            </c:spPr>
          </c:dPt>
          <c:dPt>
            <c:idx val="9"/>
            <c:invertIfNegative val="0"/>
            <c:bubble3D val="0"/>
            <c:spPr>
              <a:solidFill>
                <a:srgbClr val="B8C4CC"/>
              </a:solidFill>
              <a:effectLst/>
            </c:spPr>
          </c:dPt>
          <c:dPt>
            <c:idx val="10"/>
            <c:invertIfNegative val="0"/>
            <c:bubble3D val="0"/>
            <c:spPr>
              <a:solidFill>
                <a:srgbClr val="B8C4CC"/>
              </a:solidFill>
              <a:effectLst/>
            </c:spPr>
          </c:dPt>
          <c:dPt>
            <c:idx val="11"/>
            <c:invertIfNegative val="0"/>
            <c:bubble3D val="0"/>
            <c:spPr>
              <a:solidFill>
                <a:srgbClr val="B8C4CC"/>
              </a:solidFill>
              <a:effectLst/>
            </c:spPr>
          </c:dPt>
          <c:cat>
            <c:multiLvlStrRef>
              <c:f>Sheet1!$A$2:$A$13</c:f>
              <c:multiLvlStrCache>
                <c:ptCount val="12"/>
                <c:lvl>
                  <c:pt idx="0">
                    <c:v>Gradient boosting</c:v>
                  </c:pt>
                  <c:pt idx="1">
                    <c:v>Forêt aléatoire</c:v>
                  </c:pt>
                  <c:pt idx="2">
                    <c:v>AdaBoost</c:v>
                  </c:pt>
                  <c:pt idx="3">
                    <c:v>Extra trees</c:v>
                  </c:pt>
                  <c:pt idx="4">
                    <c:v>Bagging</c:v>
                  </c:pt>
                  <c:pt idx="5">
                    <c:v>SVM</c:v>
                  </c:pt>
                  <c:pt idx="6">
                    <c:v>Arbre de décision</c:v>
                  </c:pt>
                  <c:pt idx="7">
                    <c:v>Vote souple</c:v>
                  </c:pt>
                  <c:pt idx="8">
                    <c:v>Régression logistique</c:v>
                  </c:pt>
                  <c:pt idx="9">
                    <c:v>Stacking</c:v>
                  </c:pt>
                  <c:pt idx="10">
                    <c:v>k plus proches voisins</c:v>
                  </c:pt>
                  <c:pt idx="11">
                    <c:v>Naive Bayes</c:v>
                  </c:pt>
                </c:lvl>
              </c:multiLvlStrCache>
            </c:multiLvlStrRef>
          </c:cat>
          <c:val>
            <c:numRef>
              <c:f>Sheet1!$B$2:$B$13</c:f>
              <c:numCache>
                <c:formatCode>General</c:formatCode>
                <c:ptCount val="12"/>
                <c:pt idx="0">
                  <c:v>0.25</c:v>
                </c:pt>
                <c:pt idx="1">
                  <c:v>0.25</c:v>
                </c:pt>
                <c:pt idx="2">
                  <c:v>0.25</c:v>
                </c:pt>
                <c:pt idx="3">
                  <c:v>0.35</c:v>
                </c:pt>
                <c:pt idx="4">
                  <c:v>0.35</c:v>
                </c:pt>
                <c:pt idx="5">
                  <c:v>0.35</c:v>
                </c:pt>
                <c:pt idx="6">
                  <c:v>0.4</c:v>
                </c:pt>
                <c:pt idx="7">
                  <c:v>0.55</c:v>
                </c:pt>
                <c:pt idx="8">
                  <c:v>0.8</c:v>
                </c:pt>
                <c:pt idx="9">
                  <c:v>0.8</c:v>
                </c:pt>
                <c:pt idx="10">
                  <c:v>3.56</c:v>
                </c:pt>
                <c:pt idx="11">
                  <c:v>10.25</c:v>
                </c:pt>
              </c:numCache>
            </c:numRef>
          </c:val>
        </c:ser>
        <c:dLbls>
          <c:numFmt formatCode="0.00" sourceLinked="0"/>
          <c:txPr>
            <a:bodyPr/>
            <a:lstStyle/>
            <a:p>
              <a:pPr>
                <a:defRPr b="1" i="0" strike="noStrike" sz="1200" u="none">
                  <a:solidFill>
                    <a:srgbClr val="1A2B3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CE3E8"/>
            </a:solidFill>
            <a:prstDash val="solid"/>
            <a:round/>
          </a:ln>
        </c:spPr>
        <c:txPr>
          <a:bodyPr/>
          <a:lstStyle/>
          <a:p>
            <a:pPr>
              <a:defRPr sz="1200" b="0" i="0" u="none" strike="noStrike">
                <a:solidFill>
                  <a:srgbClr val="5B6B76"/>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B2233"/>
                </a:solidFill>
                <a:latin typeface="+mn-lt"/>
              </a:defRPr>
            </a:pPr>
            <a:r>
              <a:rPr sz="1500" b="1" i="0" u="none" strike="noStrike">
                <a:solidFill>
                  <a:srgbClr val="0B2233"/>
                </a:solidFill>
                <a:latin typeface="+mn-lt"/>
              </a:rPr>
              <a:t>Cycles bien classés selon l'état réel de la vanne (%)</a:t>
            </a:r>
          </a:p>
        </c:rich>
      </c:tx>
      <c:layout/>
      <c:overlay val="0"/>
    </c:title>
    <c:autoTitleDeleted val="0"/>
    <c:plotArea>
      <c:layout/>
      <c:barChart>
        <c:barDir val="col"/>
        <c:grouping val="clustered"/>
        <c:varyColors val="0"/>
        <c:ser>
          <c:idx val="0"/>
          <c:order val="0"/>
          <c:tx>
            <c:strRef>
              <c:f>Sheet1!$B$1</c:f>
              <c:strCache>
                <c:ptCount val="1"/>
                <c:pt idx="0">
                  <c:v>Bien classés</c:v>
                </c:pt>
              </c:strCache>
            </c:strRef>
          </c:tx>
          <c:spPr>
            <a:solidFill>
              <a:srgbClr val="A9441A"/>
            </a:solidFill>
            <a:effectLst/>
          </c:spPr>
          <c:invertIfNegative val="0"/>
          <c:dLbls>
            <c:numFmt formatCode="0" sourceLinked="0"/>
            <c:txPr>
              <a:bodyPr/>
              <a:lstStyle/>
              <a:p>
                <a:pPr>
                  <a:defRPr b="1" i="0" strike="noStrike" sz="1300" u="none">
                    <a:solidFill>
                      <a:srgbClr val="1A2B36"/>
                    </a:solidFill>
                    <a:latin typeface="+mn-lt"/>
                  </a:defRPr>
                </a:pPr>
              </a:p>
            </c:txPr>
            <c:showLegendKey val="0"/>
            <c:showVal val="1"/>
            <c:showCatName val="0"/>
            <c:showSerName val="0"/>
            <c:showPercent val="0"/>
            <c:showBubbleSize val="0"/>
            <c:showLeaderLines val="0"/>
          </c:dLbls>
          <c:dPt>
            <c:idx val="0"/>
            <c:invertIfNegative val="0"/>
            <c:bubble3D val="0"/>
            <c:spPr>
              <a:solidFill>
                <a:srgbClr val="A9441A"/>
              </a:solidFill>
              <a:effectLst/>
            </c:spPr>
          </c:dPt>
          <c:dPt>
            <c:idx val="1"/>
            <c:invertIfNegative val="0"/>
            <c:bubble3D val="0"/>
            <c:spPr>
              <a:solidFill>
                <a:srgbClr val="E07A2E"/>
              </a:solidFill>
              <a:effectLst/>
            </c:spPr>
          </c:dPt>
          <c:dPt>
            <c:idx val="2"/>
            <c:invertIfNegative val="0"/>
            <c:bubble3D val="0"/>
            <c:spPr>
              <a:solidFill>
                <a:srgbClr val="F2B36B"/>
              </a:solidFill>
              <a:effectLst/>
            </c:spPr>
          </c:dPt>
          <c:dPt>
            <c:idx val="3"/>
            <c:invertIfNegative val="0"/>
            <c:bubble3D val="0"/>
            <c:spPr>
              <a:solidFill>
                <a:srgbClr val="1C7C7D"/>
              </a:solidFill>
              <a:effectLst/>
            </c:spPr>
          </c:dPt>
          <c:cat>
            <c:multiLvlStrRef>
              <c:f>Sheet1!$A$2:$A$5</c:f>
              <c:multiLvlStrCache>
                <c:ptCount val="4"/>
                <c:lvl>
                  <c:pt idx="0">
                    <c:v>vanne à 73 %</c:v>
                  </c:pt>
                  <c:pt idx="1">
                    <c:v>vanne à 80 %</c:v>
                  </c:pt>
                  <c:pt idx="2">
                    <c:v>vanne à 90 %</c:v>
                  </c:pt>
                  <c:pt idx="3">
                    <c:v>vanne à 100 %</c:v>
                  </c:pt>
                </c:lvl>
              </c:multiLvlStrCache>
            </c:multiLvlStrRef>
          </c:cat>
          <c:val>
            <c:numRef>
              <c:f>Sheet1!$B$2:$B$5</c:f>
              <c:numCache>
                <c:formatCode>General</c:formatCode>
                <c:ptCount val="4"/>
                <c:pt idx="0">
                  <c:v>100</c:v>
                </c:pt>
                <c:pt idx="1">
                  <c:v>100</c:v>
                </c:pt>
                <c:pt idx="2">
                  <c:v>92</c:v>
                </c:pt>
                <c:pt idx="3">
                  <c:v>100</c:v>
                </c:pt>
              </c:numCache>
            </c:numRef>
          </c:val>
        </c:ser>
        <c:dLbls>
          <c:numFmt formatCode="0" sourceLinked="0"/>
          <c:txPr>
            <a:bodyPr/>
            <a:lstStyle/>
            <a:p>
              <a:pPr>
                <a:defRPr b="1" i="0" strike="noStrike" sz="1300" u="none">
                  <a:solidFill>
                    <a:srgbClr val="1A2B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300" b="0" i="0" u="none" strike="noStrike">
                <a:solidFill>
                  <a:srgbClr val="5B6B76"/>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B2233"/>
                </a:solidFill>
                <a:latin typeface="+mn-lt"/>
              </a:defRPr>
            </a:pPr>
            <a:r>
              <a:rPr sz="1500" b="1" i="0" u="none" strike="noStrike">
                <a:solidFill>
                  <a:srgbClr val="0B2233"/>
                </a:solidFill>
                <a:latin typeface="+mn-lt"/>
              </a:rPr>
              <a:t>Temps en plus à basse pression (s)</a:t>
            </a:r>
          </a:p>
        </c:rich>
      </c:tx>
      <c:layout/>
      <c:overlay val="0"/>
    </c:title>
    <c:autoTitleDeleted val="0"/>
    <c:plotArea>
      <c:layout/>
      <c:barChart>
        <c:barDir val="col"/>
        <c:grouping val="clustered"/>
        <c:varyColors val="0"/>
        <c:ser>
          <c:idx val="0"/>
          <c:order val="0"/>
          <c:tx>
            <c:strRef>
              <c:f>Sheet1!$B$1</c:f>
              <c:strCache>
                <c:ptCount val="1"/>
                <c:pt idx="0">
                  <c:v>Retard</c:v>
                </c:pt>
              </c:strCache>
            </c:strRef>
          </c:tx>
          <c:spPr>
            <a:solidFill>
              <a:srgbClr val="F2B36B"/>
            </a:solidFill>
            <a:effectLst/>
          </c:spPr>
          <c:invertIfNegative val="0"/>
          <c:dLbls>
            <c:numFmt formatCode="0.00" sourceLinked="0"/>
            <c:txPr>
              <a:bodyPr/>
              <a:lstStyle/>
              <a:p>
                <a:pPr>
                  <a:defRPr b="1" i="0" strike="noStrike" sz="1300" u="none">
                    <a:solidFill>
                      <a:srgbClr val="1A2B36"/>
                    </a:solidFill>
                    <a:latin typeface="+mn-lt"/>
                  </a:defRPr>
                </a:pPr>
              </a:p>
            </c:txPr>
            <c:showLegendKey val="0"/>
            <c:showVal val="1"/>
            <c:showCatName val="0"/>
            <c:showSerName val="0"/>
            <c:showPercent val="0"/>
            <c:showBubbleSize val="0"/>
            <c:showLeaderLines val="0"/>
          </c:dLbls>
          <c:dPt>
            <c:idx val="0"/>
            <c:invertIfNegative val="0"/>
            <c:bubble3D val="0"/>
            <c:spPr>
              <a:solidFill>
                <a:srgbClr val="F2B36B"/>
              </a:solidFill>
              <a:effectLst/>
            </c:spPr>
          </c:dPt>
          <c:dPt>
            <c:idx val="1"/>
            <c:invertIfNegative val="0"/>
            <c:bubble3D val="0"/>
            <c:spPr>
              <a:solidFill>
                <a:srgbClr val="E07A2E"/>
              </a:solidFill>
              <a:effectLst/>
            </c:spPr>
          </c:dPt>
          <c:dPt>
            <c:idx val="2"/>
            <c:invertIfNegative val="0"/>
            <c:bubble3D val="0"/>
            <c:spPr>
              <a:solidFill>
                <a:srgbClr val="A9441A"/>
              </a:solidFill>
              <a:effectLst/>
            </c:spPr>
          </c:dPt>
          <c:cat>
            <c:multiLvlStrRef>
              <c:f>Sheet1!$A$2:$A$4</c:f>
              <c:multiLvlStrCache>
                <c:ptCount val="3"/>
                <c:lvl>
                  <c:pt idx="0">
                    <c:v>vanne à 90 %</c:v>
                  </c:pt>
                  <c:pt idx="1">
                    <c:v>vanne à 80 %</c:v>
                  </c:pt>
                  <c:pt idx="2">
                    <c:v>vanne à 73 %</c:v>
                  </c:pt>
                </c:lvl>
              </c:multiLvlStrCache>
            </c:multiLvlStrRef>
          </c:cat>
          <c:val>
            <c:numRef>
              <c:f>Sheet1!$B$2:$B$4</c:f>
              <c:numCache>
                <c:formatCode>General</c:formatCode>
                <c:ptCount val="3"/>
                <c:pt idx="0">
                  <c:v>0.07</c:v>
                </c:pt>
                <c:pt idx="1">
                  <c:v>0.16</c:v>
                </c:pt>
                <c:pt idx="2">
                  <c:v>0.28</c:v>
                </c:pt>
              </c:numCache>
            </c:numRef>
          </c:val>
        </c:ser>
        <c:dLbls>
          <c:numFmt formatCode="0.00" sourceLinked="0"/>
          <c:txPr>
            <a:bodyPr/>
            <a:lstStyle/>
            <a:p>
              <a:pPr>
                <a:defRPr b="1" i="0" strike="noStrike" sz="1300" u="none">
                  <a:solidFill>
                    <a:srgbClr val="1A2B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300" b="0" i="0" u="none" strike="noStrike">
                <a:solidFill>
                  <a:srgbClr val="5B6B76"/>
                </a:solidFill>
                <a:latin typeface="+mn-lt"/>
              </a:defRPr>
            </a:pPr>
            <a:endParaRPr lang="en-US"/>
          </a:p>
        </c:txPr>
        <c:crossAx val="2094734552"/>
        <c:crosses val="autoZero"/>
        <c:auto val="1"/>
        <c:lblAlgn val="ctr"/>
        <c:noMultiLvlLbl val="1"/>
      </c:catAx>
      <c:valAx>
        <c:axId val="2094734552"/>
        <c:scaling>
          <c:orientation val="minMax"/>
          <c:max val="0.33"/>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Fode (20 s). Bonjour, nous sommes Fode, Ascelle et Seyni. Notre projet : prédire, pour chaque cycle de production d'une machine hydraulique, si sa vanne fonctionne de façon optimale, à partir de deux capteurs seulement. Je présente le problème et notre découpage des données, Ascelle les features et le choix du modèle, Seyni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Fode (1 min 15). Chaque cycle dure 60 secondes. Deux capteurs l'enregistrent : la pression, 100 fois par seconde, et le débit, 10 fois par seconde, soit 6600 mesures par cycle. On dispose de 2205 cycles. La vanne a quatre états : 100, 90, 80 et 73 %. On en fait une classification binaire : optimale ou dégradée, avec des classes équilibrées. Le graphique montre l'essentiel : en début de cycle, plus la vanne est usée, plus la pression monte tard. Le retard va de 7 centièmes à 3 dixièmes de seconde. C'est ce détail très fin que le modèle doit capter.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Fode (1 min 15). Nous avons d'abord fait un tirage aléatoire 80 / 20 : les scores étaient presque parfaits, ce qui nous a alertés. La vanne ne change d'état que 145 fois en 2205 cycles, donc des cycles voisins sont presque identiques. Avec un tirage aléatoire, 38 % des cycles de test ont un quasi jumeau dans le train : le modèle reconnaît plus qu'il ne généralise. Avec le découpage de l'énoncé, aucun. Ce test est aussi décalé : moins de vannes optimales, refroidisseur toujours sain. C'est la situation réelle : prédire des cycles futurs. Tout est donc appris sur les 2000 premiers cycles, et le test ne sert qu'une fois, à la fin. Je laisse la parole à Ascelle.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Ascelle (1 min 20). 6600 valeurs par cycle pour 2000 exemples, c'est trop : on résume chaque cycle. Nous avons comparé quatre méthodes : statistiques classiques, spectre de Fourier, les deux ensemble, et histogramme. L'histogramme découpe la plage de pression et de débit en 20 intervalles et mesure la part du cycle passée dans chacun. Il capte directement le temps passé à basse pression, donc le retard vu par Fode. En validation croisée, c'est la méthode qui fait le moins d'erreurs, en moyenne sur nos 12 modèles : 1,9 %. On supprime ensuite les features constantes et redondantes, toujours sur le train seulement : il en reste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Ascelle (1 min 20). Nous avons testé les modèles du cours : régression logistique, linéaire ; k plus proches voisins, arbre, SVM et Naive Bayes, non linéaires ; puis des ensembles : bagging, boosting, vote et stacking. Les modèles sensibles à l'échelle sont précédés d'une standardisation. Chaque modèle est réglé par grid search en validation croisée ; le random search donne le même résultat trois fois plus vite. Naive Bayes est en retrait : il suppose des features indépendantes, ce qui est faux ici. Nous retenons le gradient boosting : erreur la plus basse et la plus stable. Sa courbe d'apprentissage montre un biais faible et un écart train / validation qui se referme : peu de variance. Seyni présente les résultats sur le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Seyni (1 min 30). Sur les 205 cycles du test, utilisés une seule fois, le modèle en classe correctement 201. F1 macro de 0,979, exactitude de 98 %, AUC de 1 : les probabilités séparent parfaitement les deux classes, seul le seuil de décision laisse passer quatre cas. Les vannes optimales sont toutes reconnues. Les quatre erreurs sont des vannes à 90 %, l'usure la plus légère, prises pour des vannes optimales. Les vannes à 80 et 73 %, les plus proches de la panne, sont toutes détectées. Le score est un peu plus bas qu'en validation croisée, ce qui est attendu avec un test décalé.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Seyni (1 min 20). Pour comprendre le modèle, nous avons mesuré l'importance de chaque feature par permutation. Une seule domine : la part du cycle passée entre 0 et 8,4 bar, autrement dit le temps à basse pression avant la montée. Plus la vanne est usée, plus ce temps s'allonge, de 7 centièmes à 28 centièmes de seconde. Une règle d'une ligne sur cette feature atteint déjà 93 % d'exactitude ; le modèle complet monte à 98 %. À retenir : deux capteurs suffisent, le découpage honnête change le diagnostic, et l'usure légère reste la limite principale. Pour aller plus loin, un capteur de pression plus fin ou des cycles de test avec un refroidisseur dégradé. Merci, nous sommes prêts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0B22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Maintenance prédictive d'une vanne hydraulique   |   Machine Learning I, EFREI 2026 / 2027</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Seyni\AppData\Local\Temp\claude\C--Users-Seyni-API-et-Web-Services\13988a51-01bd-4ddc-9248-85b6fcbe6181\scratchpad\deck\fig_cycle_titre.png">    </p:cNvPr>
          <p:cNvPicPr>
            <a:picLocks noChangeAspect="1"/>
          </p:cNvPicPr>
          <p:nvPr/>
        </p:nvPicPr>
        <p:blipFill>
          <a:blip r:embed="rId1">
            <a:alphaModFix amt="80000"/>
          </a:blip>
          <a:stretch>
            <a:fillRect/>
          </a:stretch>
        </p:blipFill>
        <p:spPr>
          <a:xfrm>
            <a:off x="0" y="3977640"/>
            <a:ext cx="12191695" cy="2914821"/>
          </a:xfrm>
          <a:prstGeom prst="rect">
            <a:avLst/>
          </a:prstGeom>
        </p:spPr>
      </p:pic>
      <p:sp>
        <p:nvSpPr>
          <p:cNvPr id="3" name="Text 0"/>
          <p:cNvSpPr txBox="1"/>
          <p:nvPr/>
        </p:nvSpPr>
        <p:spPr>
          <a:xfrm>
            <a:off x="731520" y="822960"/>
            <a:ext cx="10058400" cy="365760"/>
          </a:xfrm>
          <a:prstGeom prst="rect">
            <a:avLst/>
          </a:prstGeom>
          <a:noFill/>
          <a:ln/>
        </p:spPr>
        <p:txBody>
          <a:bodyPr wrap="square" lIns="0" tIns="0" rIns="0" bIns="0" rtlCol="0" anchor="ctr"/>
          <a:lstStyle/>
          <a:p>
            <a:pPr indent="0" marL="0">
              <a:buNone/>
            </a:pPr>
            <a:r>
              <a:rPr lang="en-US" sz="1500" b="1" dirty="0">
                <a:solidFill>
                  <a:schemeClr val="accent6"/>
                </a:solidFill>
              </a:rPr>
              <a:t>Projet de Machine Learning I   |   ING2 BDML   |   EFREI Paris</a:t>
            </a:r>
            <a:endParaRPr lang="en-US" sz="1500" dirty="0"/>
          </a:p>
        </p:txBody>
      </p:sp>
      <p:sp>
        <p:nvSpPr>
          <p:cNvPr id="4" name="Text 1"/>
          <p:cNvSpPr txBox="1"/>
          <p:nvPr/>
        </p:nvSpPr>
        <p:spPr>
          <a:xfrm>
            <a:off x="731520" y="1234440"/>
            <a:ext cx="10515600" cy="1371600"/>
          </a:xfrm>
          <a:prstGeom prst="rect">
            <a:avLst/>
          </a:prstGeom>
          <a:noFill/>
          <a:ln/>
        </p:spPr>
        <p:txBody>
          <a:bodyPr wrap="square" lIns="0" tIns="0" rIns="0" bIns="0" rtlCol="0" anchor="t"/>
          <a:lstStyle/>
          <a:p>
            <a:pPr indent="0" marL="0">
              <a:buNone/>
            </a:pPr>
            <a:r>
              <a:rPr lang="en-US" sz="4400" b="1" dirty="0">
                <a:solidFill>
                  <a:schemeClr val="bg1"/>
                </a:solidFill>
                <a:latin typeface="Calibri" pitchFamily="34" charset="0"/>
                <a:ea typeface="Calibri" pitchFamily="34" charset="-122"/>
                <a:cs typeface="Calibri" pitchFamily="34" charset="-120"/>
              </a:rPr>
              <a:t>Maintenance prédictive d'une vanne hydraulique</a:t>
            </a:r>
            <a:endParaRPr lang="en-US" sz="4400" dirty="0"/>
          </a:p>
        </p:txBody>
      </p:sp>
      <p:sp>
        <p:nvSpPr>
          <p:cNvPr id="5" name="Text 2"/>
          <p:cNvSpPr txBox="1"/>
          <p:nvPr/>
        </p:nvSpPr>
        <p:spPr>
          <a:xfrm>
            <a:off x="731520" y="2606040"/>
            <a:ext cx="10515600" cy="457200"/>
          </a:xfrm>
          <a:prstGeom prst="rect">
            <a:avLst/>
          </a:prstGeom>
          <a:noFill/>
          <a:ln/>
        </p:spPr>
        <p:txBody>
          <a:bodyPr wrap="square" lIns="0" tIns="0" rIns="0" bIns="0" rtlCol="0" anchor="ctr"/>
          <a:lstStyle/>
          <a:p>
            <a:pPr indent="0" marL="0">
              <a:buNone/>
            </a:pPr>
            <a:r>
              <a:rPr lang="en-US" sz="2000" dirty="0">
                <a:solidFill>
                  <a:schemeClr val="bg2"/>
                </a:solidFill>
              </a:rPr>
              <a:t>Prédire, cycle par cycle, si la vanne est optimale à partir de deux capteurs</a:t>
            </a:r>
            <a:endParaRPr lang="en-US" sz="2000" dirty="0"/>
          </a:p>
        </p:txBody>
      </p:sp>
      <p:sp>
        <p:nvSpPr>
          <p:cNvPr id="6" name="Text 3"/>
          <p:cNvSpPr txBox="1"/>
          <p:nvPr/>
        </p:nvSpPr>
        <p:spPr>
          <a:xfrm>
            <a:off x="731520" y="3291840"/>
            <a:ext cx="1828800" cy="457200"/>
          </a:xfrm>
          <a:prstGeom prst="rect">
            <a:avLst/>
          </a:prstGeom>
          <a:noFill/>
          <a:ln/>
        </p:spPr>
        <p:txBody>
          <a:bodyPr wrap="square" lIns="0" tIns="0" rIns="0" bIns="0" rtlCol="0" anchor="ctr"/>
          <a:lstStyle/>
          <a:p>
            <a:pPr indent="0" marL="0">
              <a:buNone/>
            </a:pPr>
            <a:r>
              <a:rPr lang="en-US" sz="2000" b="1" dirty="0">
                <a:solidFill>
                  <a:schemeClr val="bg1"/>
                </a:solidFill>
              </a:rPr>
              <a:t>Fode</a:t>
            </a:r>
            <a:endParaRPr lang="en-US" sz="2000" dirty="0"/>
          </a:p>
        </p:txBody>
      </p:sp>
      <p:sp>
        <p:nvSpPr>
          <p:cNvPr id="7" name="Text 4"/>
          <p:cNvSpPr txBox="1"/>
          <p:nvPr/>
        </p:nvSpPr>
        <p:spPr>
          <a:xfrm>
            <a:off x="2743200" y="3291840"/>
            <a:ext cx="1828800" cy="457200"/>
          </a:xfrm>
          <a:prstGeom prst="rect">
            <a:avLst/>
          </a:prstGeom>
          <a:noFill/>
          <a:ln/>
        </p:spPr>
        <p:txBody>
          <a:bodyPr wrap="square" lIns="0" tIns="0" rIns="0" bIns="0" rtlCol="0" anchor="ctr"/>
          <a:lstStyle/>
          <a:p>
            <a:pPr indent="0" marL="0">
              <a:buNone/>
            </a:pPr>
            <a:r>
              <a:rPr lang="en-US" sz="2000" b="1" dirty="0">
                <a:solidFill>
                  <a:schemeClr val="bg1"/>
                </a:solidFill>
              </a:rPr>
              <a:t>Ascelle</a:t>
            </a:r>
            <a:endParaRPr lang="en-US" sz="2000" dirty="0"/>
          </a:p>
        </p:txBody>
      </p:sp>
      <p:sp>
        <p:nvSpPr>
          <p:cNvPr id="8" name="Text 5"/>
          <p:cNvSpPr txBox="1"/>
          <p:nvPr/>
        </p:nvSpPr>
        <p:spPr>
          <a:xfrm>
            <a:off x="4754880" y="3291840"/>
            <a:ext cx="1828800" cy="457200"/>
          </a:xfrm>
          <a:prstGeom prst="rect">
            <a:avLst/>
          </a:prstGeom>
          <a:noFill/>
          <a:ln/>
        </p:spPr>
        <p:txBody>
          <a:bodyPr wrap="square" lIns="0" tIns="0" rIns="0" bIns="0" rtlCol="0" anchor="ctr"/>
          <a:lstStyle/>
          <a:p>
            <a:pPr indent="0" marL="0">
              <a:buNone/>
            </a:pPr>
            <a:r>
              <a:rPr lang="en-US" sz="2000" b="1" dirty="0">
                <a:solidFill>
                  <a:schemeClr val="bg1"/>
                </a:solidFill>
              </a:rPr>
              <a:t>Seyni</a:t>
            </a:r>
            <a:endParaRPr lang="en-US" sz="2000" dirty="0"/>
          </a:p>
        </p:txBody>
      </p:sp>
      <p:sp>
        <p:nvSpPr>
          <p:cNvPr id="9" name="Text 6"/>
          <p:cNvSpPr txBox="1"/>
          <p:nvPr/>
        </p:nvSpPr>
        <p:spPr>
          <a:xfrm>
            <a:off x="9357055" y="3291840"/>
            <a:ext cx="2103120" cy="457200"/>
          </a:xfrm>
          <a:prstGeom prst="rect">
            <a:avLst/>
          </a:prstGeom>
          <a:noFill/>
          <a:ln/>
        </p:spPr>
        <p:txBody>
          <a:bodyPr wrap="square" lIns="0" tIns="0" rIns="0" bIns="0" rtlCol="0" anchor="ctr"/>
          <a:lstStyle/>
          <a:p>
            <a:pPr algn="r" indent="0" marL="0">
              <a:buNone/>
            </a:pPr>
            <a:r>
              <a:rPr lang="en-US" sz="1600" dirty="0">
                <a:solidFill>
                  <a:schemeClr val="accent6"/>
                </a:solidFill>
              </a:rPr>
              <a:t>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685800"/>
          </a:xfrm>
          <a:prstGeom prst="rect">
            <a:avLst/>
          </a:prstGeom>
          <a:noFill/>
          <a:ln/>
        </p:spPr>
        <p:txBody>
          <a:bodyPr wrap="square" lIns="0" tIns="0" rIns="0" bIns="0" rtlCol="0" anchor="ctr"/>
          <a:lstStyle/>
          <a:p>
            <a:pPr algn="l" indent="0" marL="0">
              <a:buNone/>
            </a:pPr>
            <a:r>
              <a:rPr lang="en-US" sz="3000" b="1" dirty="0">
                <a:solidFill>
                  <a:schemeClr val="tx2"/>
                </a:solidFill>
              </a:rPr>
              <a:t>La pression révèle l'usure de la vanne</a:t>
            </a:r>
            <a:endParaRPr lang="en-US" sz="3000" dirty="0"/>
          </a:p>
        </p:txBody>
      </p:sp>
      <p:sp>
        <p:nvSpPr>
          <p:cNvPr id="3" name="intervenant"/>
          <p:cNvSpPr/>
          <p:nvPr/>
        </p:nvSpPr>
        <p:spPr>
          <a:xfrm>
            <a:off x="10317175" y="502920"/>
            <a:ext cx="1325880" cy="384048"/>
          </a:xfrm>
          <a:prstGeom prst="roundRect">
            <a:avLst>
              <a:gd name="adj" fmla="val 50000"/>
            </a:avLst>
          </a:prstGeom>
          <a:solidFill>
            <a:schemeClr val="bg2"/>
          </a:solidFill>
          <a:ln/>
        </p:spPr>
      </p:sp>
      <p:sp>
        <p:nvSpPr>
          <p:cNvPr id="4" name="Text 2"/>
          <p:cNvSpPr txBox="1"/>
          <p:nvPr/>
        </p:nvSpPr>
        <p:spPr>
          <a:xfrm>
            <a:off x="10317175" y="502920"/>
            <a:ext cx="1325880" cy="384048"/>
          </a:xfrm>
          <a:prstGeom prst="rect">
            <a:avLst/>
          </a:prstGeom>
          <a:noFill/>
          <a:ln/>
        </p:spPr>
        <p:txBody>
          <a:bodyPr wrap="square" lIns="0" tIns="0" rIns="0" bIns="0" rtlCol="0" anchor="ctr"/>
          <a:lstStyle/>
          <a:p>
            <a:pPr algn="ctr" indent="0" marL="0">
              <a:buNone/>
            </a:pPr>
            <a:r>
              <a:rPr lang="en-US" sz="1300" b="1" dirty="0">
                <a:solidFill>
                  <a:schemeClr val="accent1"/>
                </a:solidFill>
              </a:rPr>
              <a:t>Fode</a:t>
            </a:r>
            <a:endParaRPr lang="en-US" sz="1300" dirty="0"/>
          </a:p>
        </p:txBody>
      </p:sp>
      <p:sp>
        <p:nvSpPr>
          <p:cNvPr id="5" name="accroche"/>
          <p:cNvSpPr txBox="1"/>
          <p:nvPr/>
        </p:nvSpPr>
        <p:spPr>
          <a:xfrm>
            <a:off x="548640" y="1033272"/>
            <a:ext cx="10515600" cy="411480"/>
          </a:xfrm>
          <a:prstGeom prst="rect">
            <a:avLst/>
          </a:prstGeom>
          <a:noFill/>
          <a:ln/>
        </p:spPr>
        <p:txBody>
          <a:bodyPr wrap="square" lIns="0" tIns="0" rIns="0" bIns="0" rtlCol="0" anchor="ctr"/>
          <a:lstStyle/>
          <a:p>
            <a:pPr indent="0" marL="0">
              <a:buNone/>
            </a:pPr>
            <a:r>
              <a:rPr lang="en-US" sz="1600" dirty="0">
                <a:solidFill>
                  <a:schemeClr val="accent5"/>
                </a:solidFill>
              </a:rPr>
              <a:t>Deux capteurs, une cible binaire : la vanne est-elle optimale (100 %) ou dégradée ?</a:t>
            </a:r>
            <a:endParaRPr lang="en-US" sz="1600" dirty="0"/>
          </a:p>
        </p:txBody>
      </p:sp>
      <p:sp>
        <p:nvSpPr>
          <p:cNvPr id="6" name="Text 4"/>
          <p:cNvSpPr txBox="1"/>
          <p:nvPr/>
        </p:nvSpPr>
        <p:spPr>
          <a:xfrm>
            <a:off x="548640" y="1737360"/>
            <a:ext cx="4206240" cy="502920"/>
          </a:xfrm>
          <a:prstGeom prst="rect">
            <a:avLst/>
          </a:prstGeom>
          <a:noFill/>
          <a:ln/>
        </p:spPr>
        <p:txBody>
          <a:bodyPr wrap="square" lIns="0" tIns="0" rIns="0" bIns="0" rtlCol="0" anchor="ctr"/>
          <a:lstStyle/>
          <a:p>
            <a:pPr indent="0" marL="0">
              <a:buNone/>
            </a:pPr>
            <a:r>
              <a:rPr lang="en-US" sz="3400" b="1" dirty="0">
                <a:solidFill>
                  <a:schemeClr val="accent1"/>
                </a:solidFill>
              </a:rPr>
              <a:t>2205</a:t>
            </a:r>
            <a:endParaRPr lang="en-US" sz="3400" dirty="0"/>
          </a:p>
        </p:txBody>
      </p:sp>
      <p:sp>
        <p:nvSpPr>
          <p:cNvPr id="7" name="Text 5"/>
          <p:cNvSpPr txBox="1"/>
          <p:nvPr/>
        </p:nvSpPr>
        <p:spPr>
          <a:xfrm>
            <a:off x="548640" y="2240280"/>
            <a:ext cx="4206240" cy="411480"/>
          </a:xfrm>
          <a:prstGeom prst="rect">
            <a:avLst/>
          </a:prstGeom>
          <a:noFill/>
          <a:ln/>
        </p:spPr>
        <p:txBody>
          <a:bodyPr wrap="square" lIns="0" tIns="0" rIns="0" bIns="0" rtlCol="0" anchor="t"/>
          <a:lstStyle/>
          <a:p>
            <a:pPr indent="0" marL="0">
              <a:buNone/>
            </a:pPr>
            <a:r>
              <a:rPr lang="en-US" sz="1400" dirty="0">
                <a:solidFill>
                  <a:schemeClr val="tx1"/>
                </a:solidFill>
              </a:rPr>
              <a:t>cycles de production de 60 secondes</a:t>
            </a:r>
            <a:endParaRPr lang="en-US" sz="1400" dirty="0"/>
          </a:p>
        </p:txBody>
      </p:sp>
      <p:sp>
        <p:nvSpPr>
          <p:cNvPr id="8" name="Text 6"/>
          <p:cNvSpPr txBox="1"/>
          <p:nvPr/>
        </p:nvSpPr>
        <p:spPr>
          <a:xfrm>
            <a:off x="548640" y="2761488"/>
            <a:ext cx="4206240" cy="502920"/>
          </a:xfrm>
          <a:prstGeom prst="rect">
            <a:avLst/>
          </a:prstGeom>
          <a:noFill/>
          <a:ln/>
        </p:spPr>
        <p:txBody>
          <a:bodyPr wrap="square" lIns="0" tIns="0" rIns="0" bIns="0" rtlCol="0" anchor="ctr"/>
          <a:lstStyle/>
          <a:p>
            <a:pPr indent="0" marL="0">
              <a:buNone/>
            </a:pPr>
            <a:r>
              <a:rPr lang="en-US" sz="3400" b="1" dirty="0">
                <a:solidFill>
                  <a:schemeClr val="accent1"/>
                </a:solidFill>
              </a:rPr>
              <a:t>6600</a:t>
            </a:r>
            <a:endParaRPr lang="en-US" sz="3400" dirty="0"/>
          </a:p>
        </p:txBody>
      </p:sp>
      <p:sp>
        <p:nvSpPr>
          <p:cNvPr id="9" name="Text 7"/>
          <p:cNvSpPr txBox="1"/>
          <p:nvPr/>
        </p:nvSpPr>
        <p:spPr>
          <a:xfrm>
            <a:off x="548640" y="3264408"/>
            <a:ext cx="4206240" cy="411480"/>
          </a:xfrm>
          <a:prstGeom prst="rect">
            <a:avLst/>
          </a:prstGeom>
          <a:noFill/>
          <a:ln/>
        </p:spPr>
        <p:txBody>
          <a:bodyPr wrap="square" lIns="0" tIns="0" rIns="0" bIns="0" rtlCol="0" anchor="t"/>
          <a:lstStyle/>
          <a:p>
            <a:pPr indent="0" marL="0">
              <a:buNone/>
            </a:pPr>
            <a:r>
              <a:rPr lang="en-US" sz="1400" dirty="0">
                <a:solidFill>
                  <a:schemeClr val="tx1"/>
                </a:solidFill>
              </a:rPr>
              <a:t>mesures par cycle : pression (100 Hz) et débit (10 Hz)</a:t>
            </a:r>
            <a:endParaRPr lang="en-US" sz="1400" dirty="0"/>
          </a:p>
        </p:txBody>
      </p:sp>
      <p:sp>
        <p:nvSpPr>
          <p:cNvPr id="10" name="Text 8"/>
          <p:cNvSpPr txBox="1"/>
          <p:nvPr/>
        </p:nvSpPr>
        <p:spPr>
          <a:xfrm>
            <a:off x="548640" y="3785616"/>
            <a:ext cx="4206240" cy="502920"/>
          </a:xfrm>
          <a:prstGeom prst="rect">
            <a:avLst/>
          </a:prstGeom>
          <a:noFill/>
          <a:ln/>
        </p:spPr>
        <p:txBody>
          <a:bodyPr wrap="square" lIns="0" tIns="0" rIns="0" bIns="0" rtlCol="0" anchor="ctr"/>
          <a:lstStyle/>
          <a:p>
            <a:pPr indent="0" marL="0">
              <a:buNone/>
            </a:pPr>
            <a:r>
              <a:rPr lang="en-US" sz="3400" b="1" dirty="0">
                <a:solidFill>
                  <a:schemeClr val="accent1"/>
                </a:solidFill>
              </a:rPr>
              <a:t>51 % / 49 %</a:t>
            </a:r>
            <a:endParaRPr lang="en-US" sz="3400" dirty="0"/>
          </a:p>
        </p:txBody>
      </p:sp>
      <p:sp>
        <p:nvSpPr>
          <p:cNvPr id="11" name="Text 9"/>
          <p:cNvSpPr txBox="1"/>
          <p:nvPr/>
        </p:nvSpPr>
        <p:spPr>
          <a:xfrm>
            <a:off x="548640" y="4288536"/>
            <a:ext cx="4206240" cy="411480"/>
          </a:xfrm>
          <a:prstGeom prst="rect">
            <a:avLst/>
          </a:prstGeom>
          <a:noFill/>
          <a:ln/>
        </p:spPr>
        <p:txBody>
          <a:bodyPr wrap="square" lIns="0" tIns="0" rIns="0" bIns="0" rtlCol="0" anchor="t"/>
          <a:lstStyle/>
          <a:p>
            <a:pPr indent="0" marL="0">
              <a:buNone/>
            </a:pPr>
            <a:r>
              <a:rPr lang="en-US" sz="1400" dirty="0">
                <a:solidFill>
                  <a:schemeClr val="tx1"/>
                </a:solidFill>
              </a:rPr>
              <a:t>vannes optimales / dégradées : classes équilibrées</a:t>
            </a:r>
            <a:endParaRPr lang="en-US" sz="1400" dirty="0"/>
          </a:p>
        </p:txBody>
      </p:sp>
      <p:sp>
        <p:nvSpPr>
          <p:cNvPr id="12" name="carte Cible"/>
          <p:cNvSpPr/>
          <p:nvPr/>
        </p:nvSpPr>
        <p:spPr>
          <a:xfrm>
            <a:off x="548640" y="4892040"/>
            <a:ext cx="4206240" cy="1280160"/>
          </a:xfrm>
          <a:prstGeom prst="roundRect">
            <a:avLst>
              <a:gd name="adj" fmla="val 8571"/>
            </a:avLst>
          </a:prstGeom>
          <a:solidFill>
            <a:schemeClr val="bg2"/>
          </a:solidFill>
          <a:ln/>
        </p:spPr>
      </p:sp>
      <p:sp>
        <p:nvSpPr>
          <p:cNvPr id="13" name="Shape 11"/>
          <p:cNvSpPr/>
          <p:nvPr/>
        </p:nvSpPr>
        <p:spPr>
          <a:xfrm>
            <a:off x="777240" y="5120640"/>
            <a:ext cx="475488" cy="475488"/>
          </a:xfrm>
          <a:prstGeom prst="ellipse">
            <a:avLst/>
          </a:prstGeom>
          <a:solidFill>
            <a:schemeClr val="accent1"/>
          </a:solidFill>
          <a:ln/>
        </p:spPr>
      </p:sp>
      <p:pic>
        <p:nvPicPr>
          <p:cNvPr id="14" name="Image 0" descr="preencoded.png">    </p:cNvPr>
          <p:cNvPicPr>
            <a:picLocks noChangeAspect="1"/>
          </p:cNvPicPr>
          <p:nvPr/>
        </p:nvPicPr>
        <p:blipFill>
          <a:blip r:embed="rId1"/>
          <a:stretch>
            <a:fillRect/>
          </a:stretch>
        </p:blipFill>
        <p:spPr>
          <a:xfrm>
            <a:off x="896112" y="5239512"/>
            <a:ext cx="237744" cy="237744"/>
          </a:xfrm>
          <a:prstGeom prst="rect">
            <a:avLst/>
          </a:prstGeom>
        </p:spPr>
      </p:pic>
      <p:sp>
        <p:nvSpPr>
          <p:cNvPr id="15" name="Text 12"/>
          <p:cNvSpPr txBox="1"/>
          <p:nvPr/>
        </p:nvSpPr>
        <p:spPr>
          <a:xfrm>
            <a:off x="1417320" y="5120640"/>
            <a:ext cx="3108960" cy="475488"/>
          </a:xfrm>
          <a:prstGeom prst="rect">
            <a:avLst/>
          </a:prstGeom>
          <a:noFill/>
          <a:ln/>
        </p:spPr>
        <p:txBody>
          <a:bodyPr wrap="square" lIns="0" tIns="0" rIns="0" bIns="0" rtlCol="0" anchor="ctr"/>
          <a:lstStyle/>
          <a:p>
            <a:pPr indent="0" marL="0">
              <a:buNone/>
            </a:pPr>
            <a:r>
              <a:rPr lang="en-US" sz="1700" b="1" dirty="0">
                <a:solidFill>
                  <a:schemeClr val="tx2"/>
                </a:solidFill>
              </a:rPr>
              <a:t>Cible</a:t>
            </a:r>
            <a:endParaRPr lang="en-US" sz="1700" dirty="0"/>
          </a:p>
        </p:txBody>
      </p:sp>
      <p:sp>
        <p:nvSpPr>
          <p:cNvPr id="16" name="Text 13"/>
          <p:cNvSpPr txBox="1"/>
          <p:nvPr/>
        </p:nvSpPr>
        <p:spPr>
          <a:xfrm>
            <a:off x="1417320" y="5669280"/>
            <a:ext cx="3108960" cy="365760"/>
          </a:xfrm>
          <a:prstGeom prst="rect">
            <a:avLst/>
          </a:prstGeom>
          <a:noFill/>
          <a:ln/>
        </p:spPr>
        <p:txBody>
          <a:bodyPr wrap="square" lIns="0" tIns="0" rIns="0" bIns="0" rtlCol="0" anchor="t"/>
          <a:lstStyle/>
          <a:p>
            <a:pPr indent="0" marL="0">
              <a:buNone/>
            </a:pPr>
            <a:r>
              <a:rPr lang="en-US" sz="1400" dirty="0">
                <a:solidFill>
                  <a:schemeClr val="tx1"/>
                </a:solidFill>
              </a:rPr>
              <a:t>1 : vanne à 100 %</a:t>
            </a:r>
            <a:endParaRPr lang="en-US" sz="1400" dirty="0"/>
          </a:p>
          <a:p>
            <a:pPr indent="0" marL="0">
              <a:buNone/>
            </a:pPr>
            <a:r>
              <a:rPr lang="en-US" sz="1400" dirty="0">
                <a:solidFill>
                  <a:schemeClr val="tx1"/>
                </a:solidFill>
              </a:rPr>
              <a:t>0 : vanne à 90, 80 ou 73 %</a:t>
            </a:r>
            <a:endParaRPr lang="en-US" sz="1400" dirty="0"/>
          </a:p>
        </p:txBody>
      </p:sp>
      <p:pic>
        <p:nvPicPr>
          <p:cNvPr id="17" name="Image 1" descr="Pression moyenne en début de cycle selon l'état de la vanne">    </p:cNvPr>
          <p:cNvPicPr>
            <a:picLocks noChangeAspect="1"/>
          </p:cNvPicPr>
          <p:nvPr/>
        </p:nvPicPr>
        <p:blipFill>
          <a:blip r:embed="rId2"/>
          <a:stretch>
            <a:fillRect/>
          </a:stretch>
        </p:blipFill>
        <p:spPr>
          <a:xfrm>
            <a:off x="5257800" y="1691640"/>
            <a:ext cx="6400800" cy="3802185"/>
          </a:xfrm>
          <a:prstGeom prst="rect">
            <a:avLst/>
          </a:prstGeom>
        </p:spPr>
      </p:pic>
      <p:sp>
        <p:nvSpPr>
          <p:cNvPr id="18" name="Text 14"/>
          <p:cNvSpPr txBox="1"/>
          <p:nvPr/>
        </p:nvSpPr>
        <p:spPr>
          <a:xfrm>
            <a:off x="5257800" y="5585265"/>
            <a:ext cx="6400800" cy="365760"/>
          </a:xfrm>
          <a:prstGeom prst="rect">
            <a:avLst/>
          </a:prstGeom>
          <a:noFill/>
          <a:ln/>
        </p:spPr>
        <p:txBody>
          <a:bodyPr wrap="square" lIns="0" tIns="0" rIns="0" bIns="0" rtlCol="0" anchor="t"/>
          <a:lstStyle/>
          <a:p>
            <a:pPr indent="0" marL="0">
              <a:buNone/>
            </a:pPr>
            <a:r>
              <a:rPr lang="en-US" sz="1300" i="1" dirty="0">
                <a:solidFill>
                  <a:schemeClr val="accent5"/>
                </a:solidFill>
              </a:rPr>
              <a:t>Pression moyenne des 2000 cycles d'apprentissage. Plus la vanne est usée, plus la pression monte tard : de 0,07 s (90 %) à 0,3 s (73 %) de retard.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685800"/>
          </a:xfrm>
          <a:prstGeom prst="rect">
            <a:avLst/>
          </a:prstGeom>
          <a:noFill/>
          <a:ln/>
        </p:spPr>
        <p:txBody>
          <a:bodyPr wrap="square" lIns="0" tIns="0" rIns="0" bIns="0" rtlCol="0" anchor="ctr"/>
          <a:lstStyle/>
          <a:p>
            <a:pPr algn="l" indent="0" marL="0">
              <a:buNone/>
            </a:pPr>
            <a:r>
              <a:rPr lang="en-US" sz="3000" b="1" dirty="0">
                <a:solidFill>
                  <a:schemeClr val="tx2"/>
                </a:solidFill>
              </a:rPr>
              <a:t>Découpage : celui de l'énoncé, pas un tirage aléatoire</a:t>
            </a:r>
            <a:endParaRPr lang="en-US" sz="3000" dirty="0"/>
          </a:p>
        </p:txBody>
      </p:sp>
      <p:sp>
        <p:nvSpPr>
          <p:cNvPr id="3" name="intervenant"/>
          <p:cNvSpPr/>
          <p:nvPr/>
        </p:nvSpPr>
        <p:spPr>
          <a:xfrm>
            <a:off x="10317175" y="502920"/>
            <a:ext cx="1325880" cy="384048"/>
          </a:xfrm>
          <a:prstGeom prst="roundRect">
            <a:avLst>
              <a:gd name="adj" fmla="val 50000"/>
            </a:avLst>
          </a:prstGeom>
          <a:solidFill>
            <a:schemeClr val="bg2"/>
          </a:solidFill>
          <a:ln/>
        </p:spPr>
      </p:sp>
      <p:sp>
        <p:nvSpPr>
          <p:cNvPr id="4" name="Text 2"/>
          <p:cNvSpPr txBox="1"/>
          <p:nvPr/>
        </p:nvSpPr>
        <p:spPr>
          <a:xfrm>
            <a:off x="10317175" y="502920"/>
            <a:ext cx="1325880" cy="384048"/>
          </a:xfrm>
          <a:prstGeom prst="rect">
            <a:avLst/>
          </a:prstGeom>
          <a:noFill/>
          <a:ln/>
        </p:spPr>
        <p:txBody>
          <a:bodyPr wrap="square" lIns="0" tIns="0" rIns="0" bIns="0" rtlCol="0" anchor="ctr"/>
          <a:lstStyle/>
          <a:p>
            <a:pPr algn="ctr" indent="0" marL="0">
              <a:buNone/>
            </a:pPr>
            <a:r>
              <a:rPr lang="en-US" sz="1300" b="1" dirty="0">
                <a:solidFill>
                  <a:schemeClr val="accent1"/>
                </a:solidFill>
              </a:rPr>
              <a:t>Fode</a:t>
            </a:r>
            <a:endParaRPr lang="en-US" sz="1300" dirty="0"/>
          </a:p>
        </p:txBody>
      </p:sp>
      <p:sp>
        <p:nvSpPr>
          <p:cNvPr id="5" name="accroche"/>
          <p:cNvSpPr txBox="1"/>
          <p:nvPr/>
        </p:nvSpPr>
        <p:spPr>
          <a:xfrm>
            <a:off x="548640" y="1033272"/>
            <a:ext cx="10515600" cy="411480"/>
          </a:xfrm>
          <a:prstGeom prst="rect">
            <a:avLst/>
          </a:prstGeom>
          <a:noFill/>
          <a:ln/>
        </p:spPr>
        <p:txBody>
          <a:bodyPr wrap="square" lIns="0" tIns="0" rIns="0" bIns="0" rtlCol="0" anchor="ctr"/>
          <a:lstStyle/>
          <a:p>
            <a:pPr indent="0" marL="0">
              <a:buNone/>
            </a:pPr>
            <a:r>
              <a:rPr lang="en-US" sz="1600" dirty="0">
                <a:solidFill>
                  <a:schemeClr val="accent5"/>
                </a:solidFill>
              </a:rPr>
              <a:t>Les 2000 premiers cycles pour apprendre, les 205 derniers pour le test final.</a:t>
            </a:r>
            <a:endParaRPr lang="en-US" sz="1600" dirty="0"/>
          </a:p>
        </p:txBody>
      </p:sp>
      <p:graphicFrame>
        <p:nvGraphicFramePr>
          <p:cNvPr id="6" name="Chart 0" descr=""/>
          <p:cNvGraphicFramePr/>
          <p:nvPr/>
        </p:nvGraphicFramePr>
        <p:xfrm>
          <a:off x="548640" y="169164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715000"/>
            <a:ext cx="6035040" cy="365760"/>
          </a:xfrm>
          <a:prstGeom prst="rect">
            <a:avLst/>
          </a:prstGeom>
          <a:noFill/>
          <a:ln/>
        </p:spPr>
        <p:txBody>
          <a:bodyPr wrap="square" lIns="0" tIns="0" rIns="0" bIns="0" rtlCol="0" anchor="t"/>
          <a:lstStyle/>
          <a:p>
            <a:pPr indent="0" marL="0">
              <a:buNone/>
            </a:pPr>
            <a:r>
              <a:rPr lang="en-US" sz="1300" i="1" dirty="0">
                <a:solidFill>
                  <a:schemeClr val="accent5"/>
                </a:solidFill>
              </a:rPr>
              <a:t>Mêmes features, mêmes modèles : seul le découpage change. Le tirage aléatoire promet presque zéro erreur.</a:t>
            </a:r>
            <a:endParaRPr lang="en-US" sz="1300" dirty="0"/>
          </a:p>
        </p:txBody>
      </p:sp>
      <p:sp>
        <p:nvSpPr>
          <p:cNvPr id="8" name="carte Des cycles quasi jumeaux"/>
          <p:cNvSpPr/>
          <p:nvPr/>
        </p:nvSpPr>
        <p:spPr>
          <a:xfrm>
            <a:off x="6949440" y="1691640"/>
            <a:ext cx="4690872" cy="1417320"/>
          </a:xfrm>
          <a:prstGeom prst="roundRect">
            <a:avLst>
              <a:gd name="adj" fmla="val 7742"/>
            </a:avLst>
          </a:prstGeom>
          <a:solidFill>
            <a:schemeClr val="bg2"/>
          </a:solidFill>
          <a:ln/>
        </p:spPr>
      </p:sp>
      <p:sp>
        <p:nvSpPr>
          <p:cNvPr id="9" name="Shape 6"/>
          <p:cNvSpPr/>
          <p:nvPr/>
        </p:nvSpPr>
        <p:spPr>
          <a:xfrm>
            <a:off x="7178040" y="1920240"/>
            <a:ext cx="475488" cy="475488"/>
          </a:xfrm>
          <a:prstGeom prst="ellipse">
            <a:avLst/>
          </a:prstGeom>
          <a:solidFill>
            <a:schemeClr val="accent1"/>
          </a:solidFill>
          <a:ln/>
        </p:spPr>
      </p:sp>
      <p:pic>
        <p:nvPicPr>
          <p:cNvPr id="10" name="Image 0" descr="preencoded.png">    </p:cNvPr>
          <p:cNvPicPr>
            <a:picLocks noChangeAspect="1"/>
          </p:cNvPicPr>
          <p:nvPr/>
        </p:nvPicPr>
        <p:blipFill>
          <a:blip r:embed="rId2"/>
          <a:stretch>
            <a:fillRect/>
          </a:stretch>
        </p:blipFill>
        <p:spPr>
          <a:xfrm>
            <a:off x="7296912" y="2039112"/>
            <a:ext cx="237744" cy="237744"/>
          </a:xfrm>
          <a:prstGeom prst="rect">
            <a:avLst/>
          </a:prstGeom>
        </p:spPr>
      </p:pic>
      <p:sp>
        <p:nvSpPr>
          <p:cNvPr id="11" name="Text 7"/>
          <p:cNvSpPr txBox="1"/>
          <p:nvPr/>
        </p:nvSpPr>
        <p:spPr>
          <a:xfrm>
            <a:off x="7818120" y="1920240"/>
            <a:ext cx="3593592" cy="475488"/>
          </a:xfrm>
          <a:prstGeom prst="rect">
            <a:avLst/>
          </a:prstGeom>
          <a:noFill/>
          <a:ln/>
        </p:spPr>
        <p:txBody>
          <a:bodyPr wrap="square" lIns="0" tIns="0" rIns="0" bIns="0" rtlCol="0" anchor="ctr"/>
          <a:lstStyle/>
          <a:p>
            <a:pPr indent="0" marL="0">
              <a:buNone/>
            </a:pPr>
            <a:r>
              <a:rPr lang="en-US" sz="1700" b="1" dirty="0">
                <a:solidFill>
                  <a:schemeClr val="tx2"/>
                </a:solidFill>
              </a:rPr>
              <a:t>Des cycles quasi jumeaux</a:t>
            </a:r>
            <a:endParaRPr lang="en-US" sz="1700" dirty="0"/>
          </a:p>
        </p:txBody>
      </p:sp>
      <p:sp>
        <p:nvSpPr>
          <p:cNvPr id="12" name="Text 8"/>
          <p:cNvSpPr txBox="1"/>
          <p:nvPr/>
        </p:nvSpPr>
        <p:spPr>
          <a:xfrm>
            <a:off x="7818120" y="2468880"/>
            <a:ext cx="3593592" cy="502920"/>
          </a:xfrm>
          <a:prstGeom prst="rect">
            <a:avLst/>
          </a:prstGeom>
          <a:noFill/>
          <a:ln/>
        </p:spPr>
        <p:txBody>
          <a:bodyPr wrap="square" lIns="0" tIns="0" rIns="0" bIns="0" rtlCol="0" anchor="t"/>
          <a:lstStyle/>
          <a:p>
            <a:pPr indent="0" marL="0">
              <a:buNone/>
            </a:pPr>
            <a:r>
              <a:rPr lang="en-US" sz="1400" dirty="0">
                <a:solidFill>
                  <a:schemeClr val="tx1"/>
                </a:solidFill>
              </a:rPr>
              <a:t>Tirage aléatoire : 38 % des cycles de test ont un voisin du train à 5 cycles au plus. Énoncé : 0 %.</a:t>
            </a:r>
            <a:endParaRPr lang="en-US" sz="1400" dirty="0"/>
          </a:p>
        </p:txBody>
      </p:sp>
      <p:sp>
        <p:nvSpPr>
          <p:cNvPr id="13" name="carte Un test décalé, comme en production"/>
          <p:cNvSpPr/>
          <p:nvPr/>
        </p:nvSpPr>
        <p:spPr>
          <a:xfrm>
            <a:off x="6949440" y="3246120"/>
            <a:ext cx="4690872" cy="1371600"/>
          </a:xfrm>
          <a:prstGeom prst="roundRect">
            <a:avLst>
              <a:gd name="adj" fmla="val 8000"/>
            </a:avLst>
          </a:prstGeom>
          <a:solidFill>
            <a:schemeClr val="bg2"/>
          </a:solidFill>
          <a:ln/>
        </p:spPr>
      </p:sp>
      <p:sp>
        <p:nvSpPr>
          <p:cNvPr id="14" name="Shape 10"/>
          <p:cNvSpPr/>
          <p:nvPr/>
        </p:nvSpPr>
        <p:spPr>
          <a:xfrm>
            <a:off x="7178040" y="3474720"/>
            <a:ext cx="475488" cy="475488"/>
          </a:xfrm>
          <a:prstGeom prst="ellipse">
            <a:avLst/>
          </a:prstGeom>
          <a:solidFill>
            <a:schemeClr val="accent1"/>
          </a:solidFill>
          <a:ln/>
        </p:spPr>
      </p:sp>
      <p:pic>
        <p:nvPicPr>
          <p:cNvPr id="15" name="Image 1" descr="preencoded.png">    </p:cNvPr>
          <p:cNvPicPr>
            <a:picLocks noChangeAspect="1"/>
          </p:cNvPicPr>
          <p:nvPr/>
        </p:nvPicPr>
        <p:blipFill>
          <a:blip r:embed="rId3"/>
          <a:stretch>
            <a:fillRect/>
          </a:stretch>
        </p:blipFill>
        <p:spPr>
          <a:xfrm>
            <a:off x="7296912" y="3593592"/>
            <a:ext cx="237744" cy="237744"/>
          </a:xfrm>
          <a:prstGeom prst="rect">
            <a:avLst/>
          </a:prstGeom>
        </p:spPr>
      </p:pic>
      <p:sp>
        <p:nvSpPr>
          <p:cNvPr id="16" name="Text 11"/>
          <p:cNvSpPr txBox="1"/>
          <p:nvPr/>
        </p:nvSpPr>
        <p:spPr>
          <a:xfrm>
            <a:off x="7818120" y="3474720"/>
            <a:ext cx="3593592" cy="475488"/>
          </a:xfrm>
          <a:prstGeom prst="rect">
            <a:avLst/>
          </a:prstGeom>
          <a:noFill/>
          <a:ln/>
        </p:spPr>
        <p:txBody>
          <a:bodyPr wrap="square" lIns="0" tIns="0" rIns="0" bIns="0" rtlCol="0" anchor="ctr"/>
          <a:lstStyle/>
          <a:p>
            <a:pPr indent="0" marL="0">
              <a:buNone/>
            </a:pPr>
            <a:r>
              <a:rPr lang="en-US" sz="1700" b="1" dirty="0">
                <a:solidFill>
                  <a:schemeClr val="tx2"/>
                </a:solidFill>
              </a:rPr>
              <a:t>Un test décalé, comme en production</a:t>
            </a:r>
            <a:endParaRPr lang="en-US" sz="1700" dirty="0"/>
          </a:p>
        </p:txBody>
      </p:sp>
      <p:sp>
        <p:nvSpPr>
          <p:cNvPr id="17" name="Text 12"/>
          <p:cNvSpPr txBox="1"/>
          <p:nvPr/>
        </p:nvSpPr>
        <p:spPr>
          <a:xfrm>
            <a:off x="7818120" y="4023360"/>
            <a:ext cx="3593592" cy="457200"/>
          </a:xfrm>
          <a:prstGeom prst="rect">
            <a:avLst/>
          </a:prstGeom>
          <a:noFill/>
          <a:ln/>
        </p:spPr>
        <p:txBody>
          <a:bodyPr wrap="square" lIns="0" tIns="0" rIns="0" bIns="0" rtlCol="0" anchor="t"/>
          <a:lstStyle/>
          <a:p>
            <a:pPr indent="0" marL="0">
              <a:buNone/>
            </a:pPr>
            <a:r>
              <a:rPr lang="en-US" sz="1400" dirty="0">
                <a:solidFill>
                  <a:schemeClr val="tx1"/>
                </a:solidFill>
              </a:rPr>
              <a:t>36 % de vannes optimales (53 % en train), refroidisseur toujours à 100 %.</a:t>
            </a:r>
            <a:endParaRPr lang="en-US" sz="1400" dirty="0"/>
          </a:p>
        </p:txBody>
      </p:sp>
      <p:sp>
        <p:nvSpPr>
          <p:cNvPr id="18" name="carte Notre protocole"/>
          <p:cNvSpPr/>
          <p:nvPr/>
        </p:nvSpPr>
        <p:spPr>
          <a:xfrm>
            <a:off x="6949440" y="4754880"/>
            <a:ext cx="4690872" cy="1417320"/>
          </a:xfrm>
          <a:prstGeom prst="roundRect">
            <a:avLst>
              <a:gd name="adj" fmla="val 7742"/>
            </a:avLst>
          </a:prstGeom>
          <a:solidFill>
            <a:schemeClr val="bg2"/>
          </a:solidFill>
          <a:ln/>
        </p:spPr>
      </p:sp>
      <p:sp>
        <p:nvSpPr>
          <p:cNvPr id="19" name="Shape 14"/>
          <p:cNvSpPr/>
          <p:nvPr/>
        </p:nvSpPr>
        <p:spPr>
          <a:xfrm>
            <a:off x="7178040" y="4983480"/>
            <a:ext cx="475488" cy="475488"/>
          </a:xfrm>
          <a:prstGeom prst="ellipse">
            <a:avLst/>
          </a:prstGeom>
          <a:solidFill>
            <a:schemeClr val="accent1"/>
          </a:solidFill>
          <a:ln/>
        </p:spPr>
      </p:sp>
      <p:pic>
        <p:nvPicPr>
          <p:cNvPr id="20" name="Image 2" descr="preencoded.png">    </p:cNvPr>
          <p:cNvPicPr>
            <a:picLocks noChangeAspect="1"/>
          </p:cNvPicPr>
          <p:nvPr/>
        </p:nvPicPr>
        <p:blipFill>
          <a:blip r:embed="rId4"/>
          <a:stretch>
            <a:fillRect/>
          </a:stretch>
        </p:blipFill>
        <p:spPr>
          <a:xfrm>
            <a:off x="7296912" y="5102352"/>
            <a:ext cx="237744" cy="237744"/>
          </a:xfrm>
          <a:prstGeom prst="rect">
            <a:avLst/>
          </a:prstGeom>
        </p:spPr>
      </p:pic>
      <p:sp>
        <p:nvSpPr>
          <p:cNvPr id="21" name="Text 15"/>
          <p:cNvSpPr txBox="1"/>
          <p:nvPr/>
        </p:nvSpPr>
        <p:spPr>
          <a:xfrm>
            <a:off x="7818120" y="4983480"/>
            <a:ext cx="3593592" cy="475488"/>
          </a:xfrm>
          <a:prstGeom prst="rect">
            <a:avLst/>
          </a:prstGeom>
          <a:noFill/>
          <a:ln/>
        </p:spPr>
        <p:txBody>
          <a:bodyPr wrap="square" lIns="0" tIns="0" rIns="0" bIns="0" rtlCol="0" anchor="ctr"/>
          <a:lstStyle/>
          <a:p>
            <a:pPr indent="0" marL="0">
              <a:buNone/>
            </a:pPr>
            <a:r>
              <a:rPr lang="en-US" sz="1700" b="1" dirty="0">
                <a:solidFill>
                  <a:schemeClr val="tx2"/>
                </a:solidFill>
              </a:rPr>
              <a:t>Notre protocole</a:t>
            </a:r>
            <a:endParaRPr lang="en-US" sz="1700" dirty="0"/>
          </a:p>
        </p:txBody>
      </p:sp>
      <p:sp>
        <p:nvSpPr>
          <p:cNvPr id="22" name="Text 16"/>
          <p:cNvSpPr txBox="1"/>
          <p:nvPr/>
        </p:nvSpPr>
        <p:spPr>
          <a:xfrm>
            <a:off x="7818120" y="5532120"/>
            <a:ext cx="3593592" cy="502920"/>
          </a:xfrm>
          <a:prstGeom prst="rect">
            <a:avLst/>
          </a:prstGeom>
          <a:noFill/>
          <a:ln/>
        </p:spPr>
        <p:txBody>
          <a:bodyPr wrap="square" lIns="0" tIns="0" rIns="0" bIns="0" rtlCol="0" anchor="t"/>
          <a:lstStyle/>
          <a:p>
            <a:pPr indent="0" marL="0">
              <a:buNone/>
            </a:pPr>
            <a:r>
              <a:rPr lang="en-US" sz="1400" dirty="0">
                <a:solidFill>
                  <a:schemeClr val="tx1"/>
                </a:solidFill>
              </a:rPr>
              <a:t>Tout est appris sur les 2000 premiers cycles. Le test ne sert qu'une fois, à la fin.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685800"/>
          </a:xfrm>
          <a:prstGeom prst="rect">
            <a:avLst/>
          </a:prstGeom>
          <a:noFill/>
          <a:ln/>
        </p:spPr>
        <p:txBody>
          <a:bodyPr wrap="square" lIns="0" tIns="0" rIns="0" bIns="0" rtlCol="0" anchor="ctr"/>
          <a:lstStyle/>
          <a:p>
            <a:pPr algn="l" indent="0" marL="0">
              <a:buNone/>
            </a:pPr>
            <a:r>
              <a:rPr lang="en-US" sz="3000" b="1" dirty="0">
                <a:solidFill>
                  <a:schemeClr val="tx2"/>
                </a:solidFill>
              </a:rPr>
              <a:t>Features : l'histogramme des valeurs l'emporte</a:t>
            </a:r>
            <a:endParaRPr lang="en-US" sz="3000" dirty="0"/>
          </a:p>
        </p:txBody>
      </p:sp>
      <p:sp>
        <p:nvSpPr>
          <p:cNvPr id="3" name="intervenant"/>
          <p:cNvSpPr/>
          <p:nvPr/>
        </p:nvSpPr>
        <p:spPr>
          <a:xfrm>
            <a:off x="10317175" y="502920"/>
            <a:ext cx="1325880" cy="384048"/>
          </a:xfrm>
          <a:prstGeom prst="roundRect">
            <a:avLst>
              <a:gd name="adj" fmla="val 50000"/>
            </a:avLst>
          </a:prstGeom>
          <a:solidFill>
            <a:schemeClr val="bg2"/>
          </a:solidFill>
          <a:ln/>
        </p:spPr>
      </p:sp>
      <p:sp>
        <p:nvSpPr>
          <p:cNvPr id="4" name="Text 2"/>
          <p:cNvSpPr txBox="1"/>
          <p:nvPr/>
        </p:nvSpPr>
        <p:spPr>
          <a:xfrm>
            <a:off x="10317175" y="502920"/>
            <a:ext cx="1325880" cy="384048"/>
          </a:xfrm>
          <a:prstGeom prst="rect">
            <a:avLst/>
          </a:prstGeom>
          <a:noFill/>
          <a:ln/>
        </p:spPr>
        <p:txBody>
          <a:bodyPr wrap="square" lIns="0" tIns="0" rIns="0" bIns="0" rtlCol="0" anchor="ctr"/>
          <a:lstStyle/>
          <a:p>
            <a:pPr algn="ctr" indent="0" marL="0">
              <a:buNone/>
            </a:pPr>
            <a:r>
              <a:rPr lang="en-US" sz="1300" b="1" dirty="0">
                <a:solidFill>
                  <a:schemeClr val="accent1"/>
                </a:solidFill>
              </a:rPr>
              <a:t>Ascelle</a:t>
            </a:r>
            <a:endParaRPr lang="en-US" sz="1300" dirty="0"/>
          </a:p>
        </p:txBody>
      </p:sp>
      <p:sp>
        <p:nvSpPr>
          <p:cNvPr id="5" name="accroche"/>
          <p:cNvSpPr txBox="1"/>
          <p:nvPr/>
        </p:nvSpPr>
        <p:spPr>
          <a:xfrm>
            <a:off x="548640" y="1033272"/>
            <a:ext cx="10515600" cy="411480"/>
          </a:xfrm>
          <a:prstGeom prst="rect">
            <a:avLst/>
          </a:prstGeom>
          <a:noFill/>
          <a:ln/>
        </p:spPr>
        <p:txBody>
          <a:bodyPr wrap="square" lIns="0" tIns="0" rIns="0" bIns="0" rtlCol="0" anchor="ctr"/>
          <a:lstStyle/>
          <a:p>
            <a:pPr indent="0" marL="0">
              <a:buNone/>
            </a:pPr>
            <a:r>
              <a:rPr lang="en-US" sz="1600" dirty="0">
                <a:solidFill>
                  <a:schemeClr val="accent5"/>
                </a:solidFill>
              </a:rPr>
              <a:t>Résumer chaque cycle en quelques nombres, puis ne garder que les plus utiles.</a:t>
            </a:r>
            <a:endParaRPr lang="en-US" sz="1600" dirty="0"/>
          </a:p>
        </p:txBody>
      </p:sp>
      <p:sp>
        <p:nvSpPr>
          <p:cNvPr id="6" name="Shape 4"/>
          <p:cNvSpPr/>
          <p:nvPr/>
        </p:nvSpPr>
        <p:spPr>
          <a:xfrm>
            <a:off x="548640" y="1783080"/>
            <a:ext cx="502920" cy="502920"/>
          </a:xfrm>
          <a:prstGeom prst="ellipse">
            <a:avLst/>
          </a:prstGeom>
          <a:solidFill>
            <a:schemeClr val="accent1"/>
          </a:solidFill>
          <a:ln/>
        </p:spPr>
      </p:sp>
      <p:sp>
        <p:nvSpPr>
          <p:cNvPr id="7" name="Text 5"/>
          <p:cNvSpPr txBox="1"/>
          <p:nvPr/>
        </p:nvSpPr>
        <p:spPr>
          <a:xfrm>
            <a:off x="548640"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1280160" y="1783080"/>
            <a:ext cx="4480560" cy="502920"/>
          </a:xfrm>
          <a:prstGeom prst="rect">
            <a:avLst/>
          </a:prstGeom>
          <a:noFill/>
          <a:ln/>
        </p:spPr>
        <p:txBody>
          <a:bodyPr wrap="square" lIns="0" tIns="0" rIns="0" bIns="0" rtlCol="0" anchor="ctr"/>
          <a:lstStyle/>
          <a:p>
            <a:pPr indent="0" marL="0">
              <a:buNone/>
            </a:pPr>
            <a:r>
              <a:rPr lang="en-US" sz="1700" b="1" dirty="0">
                <a:solidFill>
                  <a:schemeClr val="tx2"/>
                </a:solidFill>
              </a:rPr>
              <a:t>Résumer</a:t>
            </a:r>
            <a:endParaRPr lang="en-US" sz="1700" dirty="0"/>
          </a:p>
        </p:txBody>
      </p:sp>
      <p:sp>
        <p:nvSpPr>
          <p:cNvPr id="9" name="Text 7"/>
          <p:cNvSpPr txBox="1"/>
          <p:nvPr/>
        </p:nvSpPr>
        <p:spPr>
          <a:xfrm>
            <a:off x="1280160" y="2331720"/>
            <a:ext cx="4480560" cy="777240"/>
          </a:xfrm>
          <a:prstGeom prst="rect">
            <a:avLst/>
          </a:prstGeom>
          <a:noFill/>
          <a:ln/>
        </p:spPr>
        <p:txBody>
          <a:bodyPr wrap="square" lIns="0" tIns="0" rIns="0" bIns="0" rtlCol="0" anchor="t"/>
          <a:lstStyle/>
          <a:p>
            <a:pPr indent="0" marL="0">
              <a:buNone/>
            </a:pPr>
            <a:r>
              <a:rPr lang="en-US" sz="1400" dirty="0">
                <a:solidFill>
                  <a:schemeClr val="tx1"/>
                </a:solidFill>
              </a:rPr>
              <a:t>6600 mesures pour 2000 exemples, c'est trop : quatre façons de résumer un cycle testées.</a:t>
            </a:r>
            <a:endParaRPr lang="en-US" sz="1400" dirty="0"/>
          </a:p>
        </p:txBody>
      </p:sp>
      <p:sp>
        <p:nvSpPr>
          <p:cNvPr id="10" name="Shape 8"/>
          <p:cNvSpPr/>
          <p:nvPr/>
        </p:nvSpPr>
        <p:spPr>
          <a:xfrm>
            <a:off x="548640" y="3246120"/>
            <a:ext cx="502920" cy="502920"/>
          </a:xfrm>
          <a:prstGeom prst="ellipse">
            <a:avLst/>
          </a:prstGeom>
          <a:solidFill>
            <a:schemeClr val="accent1"/>
          </a:solidFill>
          <a:ln/>
        </p:spPr>
      </p:sp>
      <p:sp>
        <p:nvSpPr>
          <p:cNvPr id="11" name="Text 9"/>
          <p:cNvSpPr txBox="1"/>
          <p:nvPr/>
        </p:nvSpPr>
        <p:spPr>
          <a:xfrm>
            <a:off x="548640" y="3246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1280160" y="3246120"/>
            <a:ext cx="4480560" cy="502920"/>
          </a:xfrm>
          <a:prstGeom prst="rect">
            <a:avLst/>
          </a:prstGeom>
          <a:noFill/>
          <a:ln/>
        </p:spPr>
        <p:txBody>
          <a:bodyPr wrap="square" lIns="0" tIns="0" rIns="0" bIns="0" rtlCol="0" anchor="ctr"/>
          <a:lstStyle/>
          <a:p>
            <a:pPr indent="0" marL="0">
              <a:buNone/>
            </a:pPr>
            <a:r>
              <a:rPr lang="en-US" sz="1700" b="1" dirty="0">
                <a:solidFill>
                  <a:schemeClr val="tx2"/>
                </a:solidFill>
              </a:rPr>
              <a:t>Histogramme</a:t>
            </a:r>
            <a:endParaRPr lang="en-US" sz="1700" dirty="0"/>
          </a:p>
        </p:txBody>
      </p:sp>
      <p:sp>
        <p:nvSpPr>
          <p:cNvPr id="13" name="Text 11"/>
          <p:cNvSpPr txBox="1"/>
          <p:nvPr/>
        </p:nvSpPr>
        <p:spPr>
          <a:xfrm>
            <a:off x="1280160" y="3794760"/>
            <a:ext cx="4480560" cy="777240"/>
          </a:xfrm>
          <a:prstGeom prst="rect">
            <a:avLst/>
          </a:prstGeom>
          <a:noFill/>
          <a:ln/>
        </p:spPr>
        <p:txBody>
          <a:bodyPr wrap="square" lIns="0" tIns="0" rIns="0" bIns="0" rtlCol="0" anchor="t"/>
          <a:lstStyle/>
          <a:p>
            <a:pPr indent="0" marL="0">
              <a:buNone/>
            </a:pPr>
            <a:r>
              <a:rPr lang="en-US" sz="1400" dirty="0">
                <a:solidFill>
                  <a:schemeClr val="tx1"/>
                </a:solidFill>
              </a:rPr>
              <a:t>20 intervalles de pression, 20 de débit. Chaque feature est la part du cycle passée dans un intervalle.</a:t>
            </a:r>
            <a:endParaRPr lang="en-US" sz="1400" dirty="0"/>
          </a:p>
        </p:txBody>
      </p:sp>
      <p:sp>
        <p:nvSpPr>
          <p:cNvPr id="14" name="Shape 12"/>
          <p:cNvSpPr/>
          <p:nvPr/>
        </p:nvSpPr>
        <p:spPr>
          <a:xfrm>
            <a:off x="548640" y="4709160"/>
            <a:ext cx="502920" cy="502920"/>
          </a:xfrm>
          <a:prstGeom prst="ellipse">
            <a:avLst/>
          </a:prstGeom>
          <a:solidFill>
            <a:schemeClr val="accent1"/>
          </a:solidFill>
          <a:ln/>
        </p:spPr>
      </p:sp>
      <p:sp>
        <p:nvSpPr>
          <p:cNvPr id="15" name="Text 13"/>
          <p:cNvSpPr txBox="1"/>
          <p:nvPr/>
        </p:nvSpPr>
        <p:spPr>
          <a:xfrm>
            <a:off x="548640" y="47091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1280160" y="4709160"/>
            <a:ext cx="4480560" cy="502920"/>
          </a:xfrm>
          <a:prstGeom prst="rect">
            <a:avLst/>
          </a:prstGeom>
          <a:noFill/>
          <a:ln/>
        </p:spPr>
        <p:txBody>
          <a:bodyPr wrap="square" lIns="0" tIns="0" rIns="0" bIns="0" rtlCol="0" anchor="ctr"/>
          <a:lstStyle/>
          <a:p>
            <a:pPr indent="0" marL="0">
              <a:buNone/>
            </a:pPr>
            <a:r>
              <a:rPr lang="en-US" sz="1700" b="1" dirty="0">
                <a:solidFill>
                  <a:schemeClr val="tx2"/>
                </a:solidFill>
              </a:rPr>
              <a:t>Sélectionner, sur le train seulement</a:t>
            </a:r>
            <a:endParaRPr lang="en-US" sz="1700" dirty="0"/>
          </a:p>
        </p:txBody>
      </p:sp>
      <p:sp>
        <p:nvSpPr>
          <p:cNvPr id="17" name="Text 15"/>
          <p:cNvSpPr txBox="1"/>
          <p:nvPr/>
        </p:nvSpPr>
        <p:spPr>
          <a:xfrm>
            <a:off x="1280160" y="5257800"/>
            <a:ext cx="4480560" cy="777240"/>
          </a:xfrm>
          <a:prstGeom prst="rect">
            <a:avLst/>
          </a:prstGeom>
          <a:noFill/>
          <a:ln/>
        </p:spPr>
        <p:txBody>
          <a:bodyPr wrap="square" lIns="0" tIns="0" rIns="0" bIns="0" rtlCol="0" anchor="t"/>
          <a:lstStyle/>
          <a:p>
            <a:pPr indent="0" marL="0">
              <a:buNone/>
            </a:pPr>
            <a:r>
              <a:rPr lang="en-US" sz="1400" dirty="0">
                <a:solidFill>
                  <a:schemeClr val="tx1"/>
                </a:solidFill>
              </a:rPr>
              <a:t>Retrait des features quasi constantes et d'une feature par paire corrélée à plus de 0,85 : 40 features, 14 gardées.</a:t>
            </a:r>
            <a:endParaRPr lang="en-US" sz="1400" dirty="0"/>
          </a:p>
        </p:txBody>
      </p:sp>
      <p:graphicFrame>
        <p:nvGraphicFramePr>
          <p:cNvPr id="18" name="Chart 0" descr=""/>
          <p:cNvGraphicFramePr/>
          <p:nvPr/>
        </p:nvGraphicFramePr>
        <p:xfrm>
          <a:off x="6172200" y="1691640"/>
          <a:ext cx="5468112" cy="393192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6172200" y="5715000"/>
            <a:ext cx="5468112" cy="365760"/>
          </a:xfrm>
          <a:prstGeom prst="rect">
            <a:avLst/>
          </a:prstGeom>
          <a:noFill/>
          <a:ln/>
        </p:spPr>
        <p:txBody>
          <a:bodyPr wrap="square" lIns="0" tIns="0" rIns="0" bIns="0" rtlCol="0" anchor="t"/>
          <a:lstStyle/>
          <a:p>
            <a:pPr indent="0" marL="0">
              <a:buNone/>
            </a:pPr>
            <a:r>
              <a:rPr lang="en-US" sz="1300" i="1" dirty="0">
                <a:solidFill>
                  <a:schemeClr val="accent5"/>
                </a:solidFill>
              </a:rPr>
              <a:t>Erreur = 1 - F1 macro. Entre parenthèses : features gardées. L'histogramme mesure le temps passé à basse pression.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685800"/>
          </a:xfrm>
          <a:prstGeom prst="rect">
            <a:avLst/>
          </a:prstGeom>
          <a:noFill/>
          <a:ln/>
        </p:spPr>
        <p:txBody>
          <a:bodyPr wrap="square" lIns="0" tIns="0" rIns="0" bIns="0" rtlCol="0" anchor="ctr"/>
          <a:lstStyle/>
          <a:p>
            <a:pPr algn="l" indent="0" marL="0">
              <a:buNone/>
            </a:pPr>
            <a:r>
              <a:rPr lang="en-US" sz="3000" b="1" dirty="0">
                <a:solidFill>
                  <a:schemeClr val="tx2"/>
                </a:solidFill>
              </a:rPr>
              <a:t>Modèle retenu : le gradient boosting</a:t>
            </a:r>
            <a:endParaRPr lang="en-US" sz="3000" dirty="0"/>
          </a:p>
        </p:txBody>
      </p:sp>
      <p:sp>
        <p:nvSpPr>
          <p:cNvPr id="3" name="intervenant"/>
          <p:cNvSpPr/>
          <p:nvPr/>
        </p:nvSpPr>
        <p:spPr>
          <a:xfrm>
            <a:off x="10317175" y="502920"/>
            <a:ext cx="1325880" cy="384048"/>
          </a:xfrm>
          <a:prstGeom prst="roundRect">
            <a:avLst>
              <a:gd name="adj" fmla="val 50000"/>
            </a:avLst>
          </a:prstGeom>
          <a:solidFill>
            <a:schemeClr val="bg2"/>
          </a:solidFill>
          <a:ln/>
        </p:spPr>
      </p:sp>
      <p:sp>
        <p:nvSpPr>
          <p:cNvPr id="4" name="Text 2"/>
          <p:cNvSpPr txBox="1"/>
          <p:nvPr/>
        </p:nvSpPr>
        <p:spPr>
          <a:xfrm>
            <a:off x="10317175" y="502920"/>
            <a:ext cx="1325880" cy="384048"/>
          </a:xfrm>
          <a:prstGeom prst="rect">
            <a:avLst/>
          </a:prstGeom>
          <a:noFill/>
          <a:ln/>
        </p:spPr>
        <p:txBody>
          <a:bodyPr wrap="square" lIns="0" tIns="0" rIns="0" bIns="0" rtlCol="0" anchor="ctr"/>
          <a:lstStyle/>
          <a:p>
            <a:pPr algn="ctr" indent="0" marL="0">
              <a:buNone/>
            </a:pPr>
            <a:r>
              <a:rPr lang="en-US" sz="1300" b="1" dirty="0">
                <a:solidFill>
                  <a:schemeClr val="accent1"/>
                </a:solidFill>
              </a:rPr>
              <a:t>Ascelle</a:t>
            </a:r>
            <a:endParaRPr lang="en-US" sz="1300" dirty="0"/>
          </a:p>
        </p:txBody>
      </p:sp>
      <p:sp>
        <p:nvSpPr>
          <p:cNvPr id="5" name="accroche"/>
          <p:cNvSpPr txBox="1"/>
          <p:nvPr/>
        </p:nvSpPr>
        <p:spPr>
          <a:xfrm>
            <a:off x="548640" y="1033272"/>
            <a:ext cx="10515600" cy="411480"/>
          </a:xfrm>
          <a:prstGeom prst="rect">
            <a:avLst/>
          </a:prstGeom>
          <a:noFill/>
          <a:ln/>
        </p:spPr>
        <p:txBody>
          <a:bodyPr wrap="square" lIns="0" tIns="0" rIns="0" bIns="0" rtlCol="0" anchor="ctr"/>
          <a:lstStyle/>
          <a:p>
            <a:pPr indent="0" marL="0">
              <a:buNone/>
            </a:pPr>
            <a:r>
              <a:rPr lang="en-US" sz="1600" dirty="0">
                <a:solidFill>
                  <a:schemeClr val="accent5"/>
                </a:solidFill>
              </a:rPr>
              <a:t>12 modèles linéaires, non linéaires et d'ensemble, comparés en validation croisée sur le train.</a:t>
            </a:r>
            <a:endParaRPr lang="en-US" sz="1600" dirty="0"/>
          </a:p>
        </p:txBody>
      </p:sp>
      <p:graphicFrame>
        <p:nvGraphicFramePr>
          <p:cNvPr id="6" name="Chart 0" descr=""/>
          <p:cNvGraphicFramePr/>
          <p:nvPr/>
        </p:nvGraphicFramePr>
        <p:xfrm>
          <a:off x="548640" y="1691640"/>
          <a:ext cx="6126480" cy="40233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760720"/>
            <a:ext cx="6126480" cy="365760"/>
          </a:xfrm>
          <a:prstGeom prst="rect">
            <a:avLst/>
          </a:prstGeom>
          <a:noFill/>
          <a:ln/>
        </p:spPr>
        <p:txBody>
          <a:bodyPr wrap="square" lIns="0" tIns="0" rIns="0" bIns="0" rtlCol="0" anchor="t"/>
          <a:lstStyle/>
          <a:p>
            <a:pPr indent="0" marL="0">
              <a:buNone/>
            </a:pPr>
            <a:r>
              <a:rPr lang="en-US" sz="1300" i="1" dirty="0">
                <a:solidFill>
                  <a:schemeClr val="accent5"/>
                </a:solidFill>
              </a:rPr>
              <a:t>Erreur = 1 - F1 macro. Réglage par grid search, validation croisée 5 plis ; le random search trouve le même score 3 fois plus vite.</a:t>
            </a:r>
            <a:endParaRPr lang="en-US" sz="1300" dirty="0"/>
          </a:p>
        </p:txBody>
      </p:sp>
      <p:sp>
        <p:nvSpPr>
          <p:cNvPr id="8" name="carte Pourquoi lui"/>
          <p:cNvSpPr/>
          <p:nvPr/>
        </p:nvSpPr>
        <p:spPr>
          <a:xfrm>
            <a:off x="7086600" y="1691640"/>
            <a:ext cx="4553712" cy="1600200"/>
          </a:xfrm>
          <a:prstGeom prst="roundRect">
            <a:avLst>
              <a:gd name="adj" fmla="val 6857"/>
            </a:avLst>
          </a:prstGeom>
          <a:solidFill>
            <a:schemeClr val="bg2"/>
          </a:solidFill>
          <a:ln/>
        </p:spPr>
      </p:sp>
      <p:sp>
        <p:nvSpPr>
          <p:cNvPr id="9" name="Shape 6"/>
          <p:cNvSpPr/>
          <p:nvPr/>
        </p:nvSpPr>
        <p:spPr>
          <a:xfrm>
            <a:off x="7315200" y="1920240"/>
            <a:ext cx="475488" cy="475488"/>
          </a:xfrm>
          <a:prstGeom prst="ellipse">
            <a:avLst/>
          </a:prstGeom>
          <a:solidFill>
            <a:schemeClr val="accent1"/>
          </a:solidFill>
          <a:ln/>
        </p:spPr>
      </p:sp>
      <p:pic>
        <p:nvPicPr>
          <p:cNvPr id="10" name="Image 0" descr="preencoded.png">    </p:cNvPr>
          <p:cNvPicPr>
            <a:picLocks noChangeAspect="1"/>
          </p:cNvPicPr>
          <p:nvPr/>
        </p:nvPicPr>
        <p:blipFill>
          <a:blip r:embed="rId2"/>
          <a:stretch>
            <a:fillRect/>
          </a:stretch>
        </p:blipFill>
        <p:spPr>
          <a:xfrm>
            <a:off x="7434072" y="2039112"/>
            <a:ext cx="237744" cy="237744"/>
          </a:xfrm>
          <a:prstGeom prst="rect">
            <a:avLst/>
          </a:prstGeom>
        </p:spPr>
      </p:pic>
      <p:sp>
        <p:nvSpPr>
          <p:cNvPr id="11" name="Text 7"/>
          <p:cNvSpPr txBox="1"/>
          <p:nvPr/>
        </p:nvSpPr>
        <p:spPr>
          <a:xfrm>
            <a:off x="7955280" y="1920240"/>
            <a:ext cx="3456432" cy="475488"/>
          </a:xfrm>
          <a:prstGeom prst="rect">
            <a:avLst/>
          </a:prstGeom>
          <a:noFill/>
          <a:ln/>
        </p:spPr>
        <p:txBody>
          <a:bodyPr wrap="square" lIns="0" tIns="0" rIns="0" bIns="0" rtlCol="0" anchor="ctr"/>
          <a:lstStyle/>
          <a:p>
            <a:pPr indent="0" marL="0">
              <a:buNone/>
            </a:pPr>
            <a:r>
              <a:rPr lang="en-US" sz="1700" b="1" dirty="0">
                <a:solidFill>
                  <a:schemeClr val="tx2"/>
                </a:solidFill>
              </a:rPr>
              <a:t>Pourquoi lui</a:t>
            </a:r>
            <a:endParaRPr lang="en-US" sz="1700" dirty="0"/>
          </a:p>
        </p:txBody>
      </p:sp>
      <p:sp>
        <p:nvSpPr>
          <p:cNvPr id="12" name="Text 8"/>
          <p:cNvSpPr txBox="1"/>
          <p:nvPr/>
        </p:nvSpPr>
        <p:spPr>
          <a:xfrm>
            <a:off x="7955280" y="2468880"/>
            <a:ext cx="3456432" cy="685800"/>
          </a:xfrm>
          <a:prstGeom prst="rect">
            <a:avLst/>
          </a:prstGeom>
          <a:noFill/>
          <a:ln/>
        </p:spPr>
        <p:txBody>
          <a:bodyPr wrap="square" lIns="0" tIns="0" rIns="0" bIns="0" rtlCol="0" anchor="t"/>
          <a:lstStyle/>
          <a:p>
            <a:pPr indent="0" marL="0">
              <a:buNone/>
            </a:pPr>
            <a:r>
              <a:rPr lang="en-US" sz="1400" dirty="0">
                <a:solidFill>
                  <a:schemeClr val="tx1"/>
                </a:solidFill>
              </a:rPr>
              <a:t>Erreur la plus basse (0,25 %), à égalité avec la forêt et AdaBoost, et la plus stable d'un pli à l'autre.</a:t>
            </a:r>
            <a:endParaRPr lang="en-US" sz="1400" dirty="0"/>
          </a:p>
        </p:txBody>
      </p:sp>
      <p:sp>
        <p:nvSpPr>
          <p:cNvPr id="13" name="Text 9"/>
          <p:cNvSpPr txBox="1"/>
          <p:nvPr/>
        </p:nvSpPr>
        <p:spPr>
          <a:xfrm>
            <a:off x="7086600" y="3474720"/>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Biais et variance faibles : </a:t>
            </a:r>
            <a:pPr indent="0" marL="0">
              <a:buNone/>
            </a:pPr>
            <a:r>
              <a:rPr lang="en-US" sz="1400" dirty="0">
                <a:solidFill>
                  <a:schemeClr val="tx1"/>
                </a:solidFill>
              </a:rPr>
              <a:t>1,00 en entraînement, 0,997 en validation.</a:t>
            </a:r>
            <a:endParaRPr lang="en-US" sz="1400" dirty="0"/>
          </a:p>
        </p:txBody>
      </p:sp>
      <p:pic>
        <p:nvPicPr>
          <p:cNvPr id="14" name="Image 1" descr="Courbe d'apprentissage du gradient boosting">    </p:cNvPr>
          <p:cNvPicPr>
            <a:picLocks noChangeAspect="1"/>
          </p:cNvPicPr>
          <p:nvPr/>
        </p:nvPicPr>
        <p:blipFill>
          <a:blip r:embed="rId3"/>
          <a:stretch>
            <a:fillRect/>
          </a:stretch>
        </p:blipFill>
        <p:spPr>
          <a:xfrm>
            <a:off x="7351776" y="3886200"/>
            <a:ext cx="4023360" cy="262845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685800"/>
          </a:xfrm>
          <a:prstGeom prst="rect">
            <a:avLst/>
          </a:prstGeom>
          <a:noFill/>
          <a:ln/>
        </p:spPr>
        <p:txBody>
          <a:bodyPr wrap="square" lIns="0" tIns="0" rIns="0" bIns="0" rtlCol="0" anchor="ctr"/>
          <a:lstStyle/>
          <a:p>
            <a:pPr algn="l" indent="0" marL="0">
              <a:buNone/>
            </a:pPr>
            <a:r>
              <a:rPr lang="en-US" sz="3000" b="1" dirty="0">
                <a:solidFill>
                  <a:schemeClr val="tx2"/>
                </a:solidFill>
              </a:rPr>
              <a:t>Test final : 201 cycles sur 205 bien classés</a:t>
            </a:r>
            <a:endParaRPr lang="en-US" sz="3000" dirty="0"/>
          </a:p>
        </p:txBody>
      </p:sp>
      <p:sp>
        <p:nvSpPr>
          <p:cNvPr id="3" name="intervenant"/>
          <p:cNvSpPr/>
          <p:nvPr/>
        </p:nvSpPr>
        <p:spPr>
          <a:xfrm>
            <a:off x="10317175" y="502920"/>
            <a:ext cx="1325880" cy="384048"/>
          </a:xfrm>
          <a:prstGeom prst="roundRect">
            <a:avLst>
              <a:gd name="adj" fmla="val 50000"/>
            </a:avLst>
          </a:prstGeom>
          <a:solidFill>
            <a:schemeClr val="bg2"/>
          </a:solidFill>
          <a:ln/>
        </p:spPr>
      </p:sp>
      <p:sp>
        <p:nvSpPr>
          <p:cNvPr id="4" name="Text 2"/>
          <p:cNvSpPr txBox="1"/>
          <p:nvPr/>
        </p:nvSpPr>
        <p:spPr>
          <a:xfrm>
            <a:off x="10317175" y="502920"/>
            <a:ext cx="1325880" cy="384048"/>
          </a:xfrm>
          <a:prstGeom prst="rect">
            <a:avLst/>
          </a:prstGeom>
          <a:noFill/>
          <a:ln/>
        </p:spPr>
        <p:txBody>
          <a:bodyPr wrap="square" lIns="0" tIns="0" rIns="0" bIns="0" rtlCol="0" anchor="ctr"/>
          <a:lstStyle/>
          <a:p>
            <a:pPr algn="ctr" indent="0" marL="0">
              <a:buNone/>
            </a:pPr>
            <a:r>
              <a:rPr lang="en-US" sz="1300" b="1" dirty="0">
                <a:solidFill>
                  <a:schemeClr val="accent1"/>
                </a:solidFill>
              </a:rPr>
              <a:t>Seyni</a:t>
            </a:r>
            <a:endParaRPr lang="en-US" sz="1300" dirty="0"/>
          </a:p>
        </p:txBody>
      </p:sp>
      <p:sp>
        <p:nvSpPr>
          <p:cNvPr id="5" name="accroche"/>
          <p:cNvSpPr txBox="1"/>
          <p:nvPr/>
        </p:nvSpPr>
        <p:spPr>
          <a:xfrm>
            <a:off x="548640" y="1033272"/>
            <a:ext cx="10515600" cy="411480"/>
          </a:xfrm>
          <a:prstGeom prst="rect">
            <a:avLst/>
          </a:prstGeom>
          <a:noFill/>
          <a:ln/>
        </p:spPr>
        <p:txBody>
          <a:bodyPr wrap="square" lIns="0" tIns="0" rIns="0" bIns="0" rtlCol="0" anchor="ctr"/>
          <a:lstStyle/>
          <a:p>
            <a:pPr indent="0" marL="0">
              <a:buNone/>
            </a:pPr>
            <a:r>
              <a:rPr lang="en-US" sz="1600" dirty="0">
                <a:solidFill>
                  <a:schemeClr val="accent5"/>
                </a:solidFill>
              </a:rPr>
              <a:t>Gradient boosting évalué une seule fois sur les 205 derniers cycles.</a:t>
            </a:r>
            <a:endParaRPr lang="en-US" sz="1600" dirty="0"/>
          </a:p>
        </p:txBody>
      </p:sp>
      <p:sp>
        <p:nvSpPr>
          <p:cNvPr id="6" name="Text 4"/>
          <p:cNvSpPr txBox="1"/>
          <p:nvPr/>
        </p:nvSpPr>
        <p:spPr>
          <a:xfrm>
            <a:off x="1965960" y="1691640"/>
            <a:ext cx="3566160" cy="274320"/>
          </a:xfrm>
          <a:prstGeom prst="rect">
            <a:avLst/>
          </a:prstGeom>
          <a:noFill/>
          <a:ln/>
        </p:spPr>
        <p:txBody>
          <a:bodyPr wrap="square" lIns="0" tIns="0" rIns="0" bIns="0" rtlCol="0" anchor="ctr"/>
          <a:lstStyle/>
          <a:p>
            <a:pPr algn="ctr" indent="0" marL="0">
              <a:buNone/>
            </a:pPr>
            <a:r>
              <a:rPr lang="en-US" sz="1400" b="1" dirty="0">
                <a:solidFill>
                  <a:schemeClr val="tx2"/>
                </a:solidFill>
              </a:rPr>
              <a:t>Prédiction du modèle</a:t>
            </a:r>
            <a:endParaRPr lang="en-US" sz="1400" dirty="0"/>
          </a:p>
        </p:txBody>
      </p:sp>
      <p:sp>
        <p:nvSpPr>
          <p:cNvPr id="7" name="Text 5"/>
          <p:cNvSpPr txBox="1"/>
          <p:nvPr/>
        </p:nvSpPr>
        <p:spPr>
          <a:xfrm>
            <a:off x="1965960" y="1984248"/>
            <a:ext cx="1737360" cy="274320"/>
          </a:xfrm>
          <a:prstGeom prst="rect">
            <a:avLst/>
          </a:prstGeom>
          <a:noFill/>
          <a:ln/>
        </p:spPr>
        <p:txBody>
          <a:bodyPr wrap="square" lIns="0" tIns="0" rIns="0" bIns="0" rtlCol="0" anchor="ctr"/>
          <a:lstStyle/>
          <a:p>
            <a:pPr algn="ctr" indent="0" marL="0">
              <a:buNone/>
            </a:pPr>
            <a:r>
              <a:rPr lang="en-US" sz="1400" dirty="0">
                <a:solidFill>
                  <a:schemeClr val="accent5"/>
                </a:solidFill>
              </a:rPr>
              <a:t>dégradée</a:t>
            </a:r>
            <a:endParaRPr lang="en-US" sz="1400" dirty="0"/>
          </a:p>
        </p:txBody>
      </p:sp>
      <p:sp>
        <p:nvSpPr>
          <p:cNvPr id="8" name="Text 6"/>
          <p:cNvSpPr txBox="1"/>
          <p:nvPr/>
        </p:nvSpPr>
        <p:spPr>
          <a:xfrm>
            <a:off x="3794760" y="1984248"/>
            <a:ext cx="1737360" cy="274320"/>
          </a:xfrm>
          <a:prstGeom prst="rect">
            <a:avLst/>
          </a:prstGeom>
          <a:noFill/>
          <a:ln/>
        </p:spPr>
        <p:txBody>
          <a:bodyPr wrap="square" lIns="0" tIns="0" rIns="0" bIns="0" rtlCol="0" anchor="ctr"/>
          <a:lstStyle/>
          <a:p>
            <a:pPr algn="ctr" indent="0" marL="0">
              <a:buNone/>
            </a:pPr>
            <a:r>
              <a:rPr lang="en-US" sz="1400" dirty="0">
                <a:solidFill>
                  <a:schemeClr val="accent5"/>
                </a:solidFill>
              </a:rPr>
              <a:t>optimale</a:t>
            </a:r>
            <a:endParaRPr lang="en-US" sz="1400" dirty="0"/>
          </a:p>
        </p:txBody>
      </p:sp>
      <p:sp>
        <p:nvSpPr>
          <p:cNvPr id="9" name="Text 7"/>
          <p:cNvSpPr txBox="1"/>
          <p:nvPr/>
        </p:nvSpPr>
        <p:spPr>
          <a:xfrm>
            <a:off x="548640" y="2331720"/>
            <a:ext cx="1325880" cy="1417320"/>
          </a:xfrm>
          <a:prstGeom prst="rect">
            <a:avLst/>
          </a:prstGeom>
          <a:noFill/>
          <a:ln/>
        </p:spPr>
        <p:txBody>
          <a:bodyPr wrap="square" lIns="0" tIns="0" rIns="0" bIns="0" rtlCol="0" anchor="ctr"/>
          <a:lstStyle/>
          <a:p>
            <a:pPr algn="r" indent="0" marL="0">
              <a:buNone/>
            </a:pPr>
            <a:r>
              <a:rPr lang="en-US" sz="1400" dirty="0">
                <a:solidFill>
                  <a:schemeClr val="accent5"/>
                </a:solidFill>
              </a:rPr>
              <a:t>Réel : dégradée</a:t>
            </a:r>
            <a:endParaRPr lang="en-US" sz="1400" dirty="0"/>
          </a:p>
        </p:txBody>
      </p:sp>
      <p:sp>
        <p:nvSpPr>
          <p:cNvPr id="10" name="Text 8"/>
          <p:cNvSpPr txBox="1"/>
          <p:nvPr/>
        </p:nvSpPr>
        <p:spPr>
          <a:xfrm>
            <a:off x="548640" y="3840480"/>
            <a:ext cx="1325880" cy="1417320"/>
          </a:xfrm>
          <a:prstGeom prst="rect">
            <a:avLst/>
          </a:prstGeom>
          <a:noFill/>
          <a:ln/>
        </p:spPr>
        <p:txBody>
          <a:bodyPr wrap="square" lIns="0" tIns="0" rIns="0" bIns="0" rtlCol="0" anchor="ctr"/>
          <a:lstStyle/>
          <a:p>
            <a:pPr algn="r" indent="0" marL="0">
              <a:buNone/>
            </a:pPr>
            <a:r>
              <a:rPr lang="en-US" sz="1400" dirty="0">
                <a:solidFill>
                  <a:schemeClr val="accent5"/>
                </a:solidFill>
              </a:rPr>
              <a:t>Réel : optimale</a:t>
            </a:r>
            <a:endParaRPr lang="en-US" sz="1400" dirty="0"/>
          </a:p>
        </p:txBody>
      </p:sp>
      <p:sp>
        <p:nvSpPr>
          <p:cNvPr id="11" name="cellule 0"/>
          <p:cNvSpPr/>
          <p:nvPr/>
        </p:nvSpPr>
        <p:spPr>
          <a:xfrm>
            <a:off x="1965960" y="2331720"/>
            <a:ext cx="1737360" cy="1417320"/>
          </a:xfrm>
          <a:prstGeom prst="roundRect">
            <a:avLst>
              <a:gd name="adj" fmla="val 6452"/>
            </a:avLst>
          </a:prstGeom>
          <a:solidFill>
            <a:schemeClr val="accent1"/>
          </a:solidFill>
          <a:ln/>
        </p:spPr>
      </p:sp>
      <p:sp>
        <p:nvSpPr>
          <p:cNvPr id="12" name="Text 10"/>
          <p:cNvSpPr txBox="1"/>
          <p:nvPr/>
        </p:nvSpPr>
        <p:spPr>
          <a:xfrm>
            <a:off x="1965960" y="2560320"/>
            <a:ext cx="1737360" cy="640080"/>
          </a:xfrm>
          <a:prstGeom prst="rect">
            <a:avLst/>
          </a:prstGeom>
          <a:noFill/>
          <a:ln/>
        </p:spPr>
        <p:txBody>
          <a:bodyPr wrap="square" lIns="0" tIns="0" rIns="0" bIns="0" rtlCol="0" anchor="ctr"/>
          <a:lstStyle/>
          <a:p>
            <a:pPr algn="ctr" indent="0" marL="0">
              <a:buNone/>
            </a:pPr>
            <a:r>
              <a:rPr lang="en-US" sz="3600" b="1" dirty="0">
                <a:solidFill>
                  <a:schemeClr val="bg1"/>
                </a:solidFill>
              </a:rPr>
              <a:t>128</a:t>
            </a:r>
            <a:endParaRPr lang="en-US" sz="3600" dirty="0"/>
          </a:p>
        </p:txBody>
      </p:sp>
      <p:sp>
        <p:nvSpPr>
          <p:cNvPr id="13" name="Text 11"/>
          <p:cNvSpPr txBox="1"/>
          <p:nvPr/>
        </p:nvSpPr>
        <p:spPr>
          <a:xfrm>
            <a:off x="1965960" y="3200400"/>
            <a:ext cx="1737360" cy="320040"/>
          </a:xfrm>
          <a:prstGeom prst="rect">
            <a:avLst/>
          </a:prstGeom>
          <a:noFill/>
          <a:ln/>
        </p:spPr>
        <p:txBody>
          <a:bodyPr wrap="square" lIns="0" tIns="0" rIns="0" bIns="0" rtlCol="0" anchor="ctr"/>
          <a:lstStyle/>
          <a:p>
            <a:pPr algn="ctr" indent="0" marL="0">
              <a:buNone/>
            </a:pPr>
            <a:r>
              <a:rPr lang="en-US" sz="1300" dirty="0">
                <a:solidFill>
                  <a:schemeClr val="bg1"/>
                </a:solidFill>
              </a:rPr>
              <a:t>bien classées</a:t>
            </a:r>
            <a:endParaRPr lang="en-US" sz="1300" dirty="0"/>
          </a:p>
        </p:txBody>
      </p:sp>
      <p:sp>
        <p:nvSpPr>
          <p:cNvPr id="14" name="cellule 1"/>
          <p:cNvSpPr/>
          <p:nvPr/>
        </p:nvSpPr>
        <p:spPr>
          <a:xfrm>
            <a:off x="3794760" y="2331720"/>
            <a:ext cx="1737360" cy="1417320"/>
          </a:xfrm>
          <a:prstGeom prst="roundRect">
            <a:avLst>
              <a:gd name="adj" fmla="val 6452"/>
            </a:avLst>
          </a:prstGeom>
          <a:solidFill>
            <a:schemeClr val="bg2"/>
          </a:solidFill>
          <a:ln/>
        </p:spPr>
      </p:sp>
      <p:sp>
        <p:nvSpPr>
          <p:cNvPr id="15" name="Text 13"/>
          <p:cNvSpPr txBox="1"/>
          <p:nvPr/>
        </p:nvSpPr>
        <p:spPr>
          <a:xfrm>
            <a:off x="3794760" y="2560320"/>
            <a:ext cx="1737360" cy="640080"/>
          </a:xfrm>
          <a:prstGeom prst="rect">
            <a:avLst/>
          </a:prstGeom>
          <a:noFill/>
          <a:ln/>
        </p:spPr>
        <p:txBody>
          <a:bodyPr wrap="square" lIns="0" tIns="0" rIns="0" bIns="0" rtlCol="0" anchor="ctr"/>
          <a:lstStyle/>
          <a:p>
            <a:pPr algn="ctr" indent="0" marL="0">
              <a:buNone/>
            </a:pPr>
            <a:r>
              <a:rPr lang="en-US" sz="3600" b="1" dirty="0">
                <a:solidFill>
                  <a:schemeClr val="accent4"/>
                </a:solidFill>
              </a:rPr>
              <a:t>4</a:t>
            </a:r>
            <a:endParaRPr lang="en-US" sz="3600" dirty="0"/>
          </a:p>
        </p:txBody>
      </p:sp>
      <p:sp>
        <p:nvSpPr>
          <p:cNvPr id="16" name="Text 14"/>
          <p:cNvSpPr txBox="1"/>
          <p:nvPr/>
        </p:nvSpPr>
        <p:spPr>
          <a:xfrm>
            <a:off x="3794760" y="3200400"/>
            <a:ext cx="1737360" cy="320040"/>
          </a:xfrm>
          <a:prstGeom prst="rect">
            <a:avLst/>
          </a:prstGeom>
          <a:noFill/>
          <a:ln/>
        </p:spPr>
        <p:txBody>
          <a:bodyPr wrap="square" lIns="0" tIns="0" rIns="0" bIns="0" rtlCol="0" anchor="ctr"/>
          <a:lstStyle/>
          <a:p>
            <a:pPr algn="ctr" indent="0" marL="0">
              <a:buNone/>
            </a:pPr>
            <a:r>
              <a:rPr lang="en-US" sz="1300" dirty="0">
                <a:solidFill>
                  <a:schemeClr val="accent5"/>
                </a:solidFill>
              </a:rPr>
              <a:t>erreurs</a:t>
            </a:r>
            <a:endParaRPr lang="en-US" sz="1300" dirty="0"/>
          </a:p>
        </p:txBody>
      </p:sp>
      <p:sp>
        <p:nvSpPr>
          <p:cNvPr id="17" name="cellule 2"/>
          <p:cNvSpPr/>
          <p:nvPr/>
        </p:nvSpPr>
        <p:spPr>
          <a:xfrm>
            <a:off x="1965960" y="3840480"/>
            <a:ext cx="1737360" cy="1417320"/>
          </a:xfrm>
          <a:prstGeom prst="roundRect">
            <a:avLst>
              <a:gd name="adj" fmla="val 6452"/>
            </a:avLst>
          </a:prstGeom>
          <a:solidFill>
            <a:schemeClr val="bg2"/>
          </a:solidFill>
          <a:ln/>
        </p:spPr>
      </p:sp>
      <p:sp>
        <p:nvSpPr>
          <p:cNvPr id="18" name="Text 16"/>
          <p:cNvSpPr txBox="1"/>
          <p:nvPr/>
        </p:nvSpPr>
        <p:spPr>
          <a:xfrm>
            <a:off x="1965960" y="4069080"/>
            <a:ext cx="1737360" cy="640080"/>
          </a:xfrm>
          <a:prstGeom prst="rect">
            <a:avLst/>
          </a:prstGeom>
          <a:noFill/>
          <a:ln/>
        </p:spPr>
        <p:txBody>
          <a:bodyPr wrap="square" lIns="0" tIns="0" rIns="0" bIns="0" rtlCol="0" anchor="ctr"/>
          <a:lstStyle/>
          <a:p>
            <a:pPr algn="ctr" indent="0" marL="0">
              <a:buNone/>
            </a:pPr>
            <a:r>
              <a:rPr lang="en-US" sz="3600" b="1" dirty="0">
                <a:solidFill>
                  <a:schemeClr val="accent5"/>
                </a:solidFill>
              </a:rPr>
              <a:t>0</a:t>
            </a:r>
            <a:endParaRPr lang="en-US" sz="3600" dirty="0"/>
          </a:p>
        </p:txBody>
      </p:sp>
      <p:sp>
        <p:nvSpPr>
          <p:cNvPr id="19" name="Text 17"/>
          <p:cNvSpPr txBox="1"/>
          <p:nvPr/>
        </p:nvSpPr>
        <p:spPr>
          <a:xfrm>
            <a:off x="1965960" y="4709160"/>
            <a:ext cx="1737360" cy="320040"/>
          </a:xfrm>
          <a:prstGeom prst="rect">
            <a:avLst/>
          </a:prstGeom>
          <a:noFill/>
          <a:ln/>
        </p:spPr>
        <p:txBody>
          <a:bodyPr wrap="square" lIns="0" tIns="0" rIns="0" bIns="0" rtlCol="0" anchor="ctr"/>
          <a:lstStyle/>
          <a:p>
            <a:pPr algn="ctr" indent="0" marL="0">
              <a:buNone/>
            </a:pPr>
            <a:r>
              <a:rPr lang="en-US" sz="1300" dirty="0">
                <a:solidFill>
                  <a:schemeClr val="accent5"/>
                </a:solidFill>
              </a:rPr>
              <a:t>erreur</a:t>
            </a:r>
            <a:endParaRPr lang="en-US" sz="1300" dirty="0"/>
          </a:p>
        </p:txBody>
      </p:sp>
      <p:sp>
        <p:nvSpPr>
          <p:cNvPr id="20" name="cellule 3"/>
          <p:cNvSpPr/>
          <p:nvPr/>
        </p:nvSpPr>
        <p:spPr>
          <a:xfrm>
            <a:off x="3794760" y="3840480"/>
            <a:ext cx="1737360" cy="1417320"/>
          </a:xfrm>
          <a:prstGeom prst="roundRect">
            <a:avLst>
              <a:gd name="adj" fmla="val 6452"/>
            </a:avLst>
          </a:prstGeom>
          <a:solidFill>
            <a:schemeClr val="accent1"/>
          </a:solidFill>
          <a:ln/>
        </p:spPr>
      </p:sp>
      <p:sp>
        <p:nvSpPr>
          <p:cNvPr id="21" name="Text 19"/>
          <p:cNvSpPr txBox="1"/>
          <p:nvPr/>
        </p:nvSpPr>
        <p:spPr>
          <a:xfrm>
            <a:off x="3794760" y="4069080"/>
            <a:ext cx="1737360" cy="640080"/>
          </a:xfrm>
          <a:prstGeom prst="rect">
            <a:avLst/>
          </a:prstGeom>
          <a:noFill/>
          <a:ln/>
        </p:spPr>
        <p:txBody>
          <a:bodyPr wrap="square" lIns="0" tIns="0" rIns="0" bIns="0" rtlCol="0" anchor="ctr"/>
          <a:lstStyle/>
          <a:p>
            <a:pPr algn="ctr" indent="0" marL="0">
              <a:buNone/>
            </a:pPr>
            <a:r>
              <a:rPr lang="en-US" sz="3600" b="1" dirty="0">
                <a:solidFill>
                  <a:schemeClr val="bg1"/>
                </a:solidFill>
              </a:rPr>
              <a:t>73</a:t>
            </a:r>
            <a:endParaRPr lang="en-US" sz="3600" dirty="0"/>
          </a:p>
        </p:txBody>
      </p:sp>
      <p:sp>
        <p:nvSpPr>
          <p:cNvPr id="22" name="Text 20"/>
          <p:cNvSpPr txBox="1"/>
          <p:nvPr/>
        </p:nvSpPr>
        <p:spPr>
          <a:xfrm>
            <a:off x="3794760" y="4709160"/>
            <a:ext cx="1737360" cy="320040"/>
          </a:xfrm>
          <a:prstGeom prst="rect">
            <a:avLst/>
          </a:prstGeom>
          <a:noFill/>
          <a:ln/>
        </p:spPr>
        <p:txBody>
          <a:bodyPr wrap="square" lIns="0" tIns="0" rIns="0" bIns="0" rtlCol="0" anchor="ctr"/>
          <a:lstStyle/>
          <a:p>
            <a:pPr algn="ctr" indent="0" marL="0">
              <a:buNone/>
            </a:pPr>
            <a:r>
              <a:rPr lang="en-US" sz="1300" dirty="0">
                <a:solidFill>
                  <a:schemeClr val="bg1"/>
                </a:solidFill>
              </a:rPr>
              <a:t>bien classées</a:t>
            </a:r>
            <a:endParaRPr lang="en-US" sz="1300" dirty="0"/>
          </a:p>
        </p:txBody>
      </p:sp>
      <p:sp>
        <p:nvSpPr>
          <p:cNvPr id="23" name="Text 21"/>
          <p:cNvSpPr txBox="1"/>
          <p:nvPr/>
        </p:nvSpPr>
        <p:spPr>
          <a:xfrm>
            <a:off x="1965960" y="5440680"/>
            <a:ext cx="3566160" cy="365760"/>
          </a:xfrm>
          <a:prstGeom prst="rect">
            <a:avLst/>
          </a:prstGeom>
          <a:noFill/>
          <a:ln/>
        </p:spPr>
        <p:txBody>
          <a:bodyPr wrap="square" lIns="0" tIns="0" rIns="0" bIns="0" rtlCol="0" anchor="t"/>
          <a:lstStyle/>
          <a:p>
            <a:pPr indent="0" marL="0">
              <a:buNone/>
            </a:pPr>
            <a:r>
              <a:rPr lang="en-US" sz="1300" i="1" dirty="0">
                <a:solidFill>
                  <a:schemeClr val="accent5"/>
                </a:solidFill>
              </a:rPr>
              <a:t>132 vannes dégradées et 73 optimales dans le test.</a:t>
            </a:r>
            <a:endParaRPr lang="en-US" sz="1300" dirty="0"/>
          </a:p>
        </p:txBody>
      </p:sp>
      <p:sp>
        <p:nvSpPr>
          <p:cNvPr id="24" name="indicateur F1 macro"/>
          <p:cNvSpPr/>
          <p:nvPr/>
        </p:nvSpPr>
        <p:spPr>
          <a:xfrm>
            <a:off x="5989320" y="1691640"/>
            <a:ext cx="1783080" cy="1188720"/>
          </a:xfrm>
          <a:prstGeom prst="roundRect">
            <a:avLst>
              <a:gd name="adj" fmla="val 9231"/>
            </a:avLst>
          </a:prstGeom>
          <a:solidFill>
            <a:schemeClr val="bg2"/>
          </a:solidFill>
          <a:ln/>
        </p:spPr>
      </p:sp>
      <p:sp>
        <p:nvSpPr>
          <p:cNvPr id="25" name="Text 23"/>
          <p:cNvSpPr txBox="1"/>
          <p:nvPr/>
        </p:nvSpPr>
        <p:spPr>
          <a:xfrm>
            <a:off x="5989320" y="1783080"/>
            <a:ext cx="1783080" cy="640080"/>
          </a:xfrm>
          <a:prstGeom prst="rect">
            <a:avLst/>
          </a:prstGeom>
          <a:noFill/>
          <a:ln/>
        </p:spPr>
        <p:txBody>
          <a:bodyPr wrap="square" lIns="0" tIns="0" rIns="0" bIns="0" rtlCol="0" anchor="ctr"/>
          <a:lstStyle/>
          <a:p>
            <a:pPr algn="ctr" indent="0" marL="0">
              <a:buNone/>
            </a:pPr>
            <a:r>
              <a:rPr lang="en-US" sz="3000" b="1" dirty="0">
                <a:solidFill>
                  <a:schemeClr val="accent1"/>
                </a:solidFill>
              </a:rPr>
              <a:t>0,979</a:t>
            </a:r>
            <a:endParaRPr lang="en-US" sz="3000" dirty="0"/>
          </a:p>
        </p:txBody>
      </p:sp>
      <p:sp>
        <p:nvSpPr>
          <p:cNvPr id="26" name="Text 24"/>
          <p:cNvSpPr txBox="1"/>
          <p:nvPr/>
        </p:nvSpPr>
        <p:spPr>
          <a:xfrm>
            <a:off x="5989320" y="2423160"/>
            <a:ext cx="1783080" cy="320040"/>
          </a:xfrm>
          <a:prstGeom prst="rect">
            <a:avLst/>
          </a:prstGeom>
          <a:noFill/>
          <a:ln/>
        </p:spPr>
        <p:txBody>
          <a:bodyPr wrap="square" lIns="0" tIns="0" rIns="0" bIns="0" rtlCol="0" anchor="ctr"/>
          <a:lstStyle/>
          <a:p>
            <a:pPr algn="ctr" indent="0" marL="0">
              <a:buNone/>
            </a:pPr>
            <a:r>
              <a:rPr lang="en-US" sz="1300" dirty="0">
                <a:solidFill>
                  <a:schemeClr val="accent5"/>
                </a:solidFill>
              </a:rPr>
              <a:t>F1 macro</a:t>
            </a:r>
            <a:endParaRPr lang="en-US" sz="1300" dirty="0"/>
          </a:p>
        </p:txBody>
      </p:sp>
      <p:sp>
        <p:nvSpPr>
          <p:cNvPr id="27" name="indicateur exactitude"/>
          <p:cNvSpPr/>
          <p:nvPr/>
        </p:nvSpPr>
        <p:spPr>
          <a:xfrm>
            <a:off x="7900416" y="1691640"/>
            <a:ext cx="1783080" cy="1188720"/>
          </a:xfrm>
          <a:prstGeom prst="roundRect">
            <a:avLst>
              <a:gd name="adj" fmla="val 9231"/>
            </a:avLst>
          </a:prstGeom>
          <a:solidFill>
            <a:schemeClr val="bg2"/>
          </a:solidFill>
          <a:ln/>
        </p:spPr>
      </p:sp>
      <p:sp>
        <p:nvSpPr>
          <p:cNvPr id="28" name="Text 26"/>
          <p:cNvSpPr txBox="1"/>
          <p:nvPr/>
        </p:nvSpPr>
        <p:spPr>
          <a:xfrm>
            <a:off x="7900416" y="1783080"/>
            <a:ext cx="1783080" cy="640080"/>
          </a:xfrm>
          <a:prstGeom prst="rect">
            <a:avLst/>
          </a:prstGeom>
          <a:noFill/>
          <a:ln/>
        </p:spPr>
        <p:txBody>
          <a:bodyPr wrap="square" lIns="0" tIns="0" rIns="0" bIns="0" rtlCol="0" anchor="ctr"/>
          <a:lstStyle/>
          <a:p>
            <a:pPr algn="ctr" indent="0" marL="0">
              <a:buNone/>
            </a:pPr>
            <a:r>
              <a:rPr lang="en-US" sz="3000" b="1" dirty="0">
                <a:solidFill>
                  <a:schemeClr val="accent1"/>
                </a:solidFill>
              </a:rPr>
              <a:t>98,0 %</a:t>
            </a:r>
            <a:endParaRPr lang="en-US" sz="3000" dirty="0"/>
          </a:p>
        </p:txBody>
      </p:sp>
      <p:sp>
        <p:nvSpPr>
          <p:cNvPr id="29" name="Text 27"/>
          <p:cNvSpPr txBox="1"/>
          <p:nvPr/>
        </p:nvSpPr>
        <p:spPr>
          <a:xfrm>
            <a:off x="7900416" y="2423160"/>
            <a:ext cx="1783080" cy="320040"/>
          </a:xfrm>
          <a:prstGeom prst="rect">
            <a:avLst/>
          </a:prstGeom>
          <a:noFill/>
          <a:ln/>
        </p:spPr>
        <p:txBody>
          <a:bodyPr wrap="square" lIns="0" tIns="0" rIns="0" bIns="0" rtlCol="0" anchor="ctr"/>
          <a:lstStyle/>
          <a:p>
            <a:pPr algn="ctr" indent="0" marL="0">
              <a:buNone/>
            </a:pPr>
            <a:r>
              <a:rPr lang="en-US" sz="1300" dirty="0">
                <a:solidFill>
                  <a:schemeClr val="accent5"/>
                </a:solidFill>
              </a:rPr>
              <a:t>exactitude</a:t>
            </a:r>
            <a:endParaRPr lang="en-US" sz="1300" dirty="0"/>
          </a:p>
        </p:txBody>
      </p:sp>
      <p:sp>
        <p:nvSpPr>
          <p:cNvPr id="30" name="indicateur AUC (courbe ROC)"/>
          <p:cNvSpPr/>
          <p:nvPr/>
        </p:nvSpPr>
        <p:spPr>
          <a:xfrm>
            <a:off x="9811512" y="1691640"/>
            <a:ext cx="1783080" cy="1188720"/>
          </a:xfrm>
          <a:prstGeom prst="roundRect">
            <a:avLst>
              <a:gd name="adj" fmla="val 9231"/>
            </a:avLst>
          </a:prstGeom>
          <a:solidFill>
            <a:schemeClr val="bg2"/>
          </a:solidFill>
          <a:ln/>
        </p:spPr>
      </p:sp>
      <p:sp>
        <p:nvSpPr>
          <p:cNvPr id="31" name="Text 29"/>
          <p:cNvSpPr txBox="1"/>
          <p:nvPr/>
        </p:nvSpPr>
        <p:spPr>
          <a:xfrm>
            <a:off x="9811512" y="1783080"/>
            <a:ext cx="1783080" cy="640080"/>
          </a:xfrm>
          <a:prstGeom prst="rect">
            <a:avLst/>
          </a:prstGeom>
          <a:noFill/>
          <a:ln/>
        </p:spPr>
        <p:txBody>
          <a:bodyPr wrap="square" lIns="0" tIns="0" rIns="0" bIns="0" rtlCol="0" anchor="ctr"/>
          <a:lstStyle/>
          <a:p>
            <a:pPr algn="ctr" indent="0" marL="0">
              <a:buNone/>
            </a:pPr>
            <a:r>
              <a:rPr lang="en-US" sz="3000" b="1" dirty="0">
                <a:solidFill>
                  <a:schemeClr val="accent1"/>
                </a:solidFill>
              </a:rPr>
              <a:t>1,00</a:t>
            </a:r>
            <a:endParaRPr lang="en-US" sz="3000" dirty="0"/>
          </a:p>
        </p:txBody>
      </p:sp>
      <p:sp>
        <p:nvSpPr>
          <p:cNvPr id="32" name="Text 30"/>
          <p:cNvSpPr txBox="1"/>
          <p:nvPr/>
        </p:nvSpPr>
        <p:spPr>
          <a:xfrm>
            <a:off x="9811512" y="2423160"/>
            <a:ext cx="1783080" cy="320040"/>
          </a:xfrm>
          <a:prstGeom prst="rect">
            <a:avLst/>
          </a:prstGeom>
          <a:noFill/>
          <a:ln/>
        </p:spPr>
        <p:txBody>
          <a:bodyPr wrap="square" lIns="0" tIns="0" rIns="0" bIns="0" rtlCol="0" anchor="ctr"/>
          <a:lstStyle/>
          <a:p>
            <a:pPr algn="ctr" indent="0" marL="0">
              <a:buNone/>
            </a:pPr>
            <a:r>
              <a:rPr lang="en-US" sz="1300" dirty="0">
                <a:solidFill>
                  <a:schemeClr val="accent5"/>
                </a:solidFill>
              </a:rPr>
              <a:t>AUC (courbe ROC)</a:t>
            </a:r>
            <a:endParaRPr lang="en-US" sz="1300" dirty="0"/>
          </a:p>
        </p:txBody>
      </p:sp>
      <p:graphicFrame>
        <p:nvGraphicFramePr>
          <p:cNvPr id="33" name="Chart 0" descr=""/>
          <p:cNvGraphicFramePr/>
          <p:nvPr/>
        </p:nvGraphicFramePr>
        <p:xfrm>
          <a:off x="5989320" y="3108960"/>
          <a:ext cx="5650992" cy="2560320"/>
        </p:xfrm>
        <a:graphic xmlns:a="http://schemas.openxmlformats.org/drawingml/2006/main">
          <a:graphicData uri="http://schemas.openxmlformats.org/drawingml/2006/chart">
            <c:chart xmlns:c="http://schemas.openxmlformats.org/drawingml/2006/chart" r:id="rId1"/>
          </a:graphicData>
        </a:graphic>
      </p:graphicFrame>
      <p:sp>
        <p:nvSpPr>
          <p:cNvPr id="34" name="Text 31"/>
          <p:cNvSpPr txBox="1"/>
          <p:nvPr/>
        </p:nvSpPr>
        <p:spPr>
          <a:xfrm>
            <a:off x="5989320" y="5715000"/>
            <a:ext cx="5650992" cy="365760"/>
          </a:xfrm>
          <a:prstGeom prst="rect">
            <a:avLst/>
          </a:prstGeom>
          <a:noFill/>
          <a:ln/>
        </p:spPr>
        <p:txBody>
          <a:bodyPr wrap="square" lIns="0" tIns="0" rIns="0" bIns="0" rtlCol="0" anchor="ctr"/>
          <a:lstStyle/>
          <a:p>
            <a:pPr indent="0" marL="0">
              <a:buNone/>
            </a:pPr>
            <a:r>
              <a:rPr lang="en-US" sz="1400" b="1" dirty="0">
                <a:solidFill>
                  <a:schemeClr val="accent4"/>
                </a:solidFill>
              </a:rPr>
              <a:t>Les 4 erreurs : des vannes à 90 %, l'usure la plus légère, prédites optimales.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685800"/>
          </a:xfrm>
          <a:prstGeom prst="rect">
            <a:avLst/>
          </a:prstGeom>
          <a:noFill/>
          <a:ln/>
        </p:spPr>
        <p:txBody>
          <a:bodyPr wrap="square" lIns="0" tIns="0" rIns="0" bIns="0" rtlCol="0" anchor="ctr"/>
          <a:lstStyle/>
          <a:p>
            <a:pPr algn="l" indent="0" marL="0">
              <a:buNone/>
            </a:pPr>
            <a:r>
              <a:rPr lang="en-US" sz="3000" b="1" dirty="0">
                <a:solidFill>
                  <a:schemeClr val="tx2"/>
                </a:solidFill>
              </a:rPr>
              <a:t>Le modèle a retrouvé la physique du problème</a:t>
            </a:r>
            <a:endParaRPr lang="en-US" sz="3000" dirty="0"/>
          </a:p>
        </p:txBody>
      </p:sp>
      <p:sp>
        <p:nvSpPr>
          <p:cNvPr id="3" name="intervenant"/>
          <p:cNvSpPr/>
          <p:nvPr/>
        </p:nvSpPr>
        <p:spPr>
          <a:xfrm>
            <a:off x="10317175" y="502920"/>
            <a:ext cx="1325880" cy="384048"/>
          </a:xfrm>
          <a:prstGeom prst="roundRect">
            <a:avLst>
              <a:gd name="adj" fmla="val 50000"/>
            </a:avLst>
          </a:prstGeom>
          <a:solidFill>
            <a:schemeClr val="bg2"/>
          </a:solidFill>
          <a:ln/>
        </p:spPr>
      </p:sp>
      <p:sp>
        <p:nvSpPr>
          <p:cNvPr id="4" name="Text 2"/>
          <p:cNvSpPr txBox="1"/>
          <p:nvPr/>
        </p:nvSpPr>
        <p:spPr>
          <a:xfrm>
            <a:off x="10317175" y="502920"/>
            <a:ext cx="1325880" cy="384048"/>
          </a:xfrm>
          <a:prstGeom prst="rect">
            <a:avLst/>
          </a:prstGeom>
          <a:noFill/>
          <a:ln/>
        </p:spPr>
        <p:txBody>
          <a:bodyPr wrap="square" lIns="0" tIns="0" rIns="0" bIns="0" rtlCol="0" anchor="ctr"/>
          <a:lstStyle/>
          <a:p>
            <a:pPr algn="ctr" indent="0" marL="0">
              <a:buNone/>
            </a:pPr>
            <a:r>
              <a:rPr lang="en-US" sz="1300" b="1" dirty="0">
                <a:solidFill>
                  <a:schemeClr val="accent1"/>
                </a:solidFill>
              </a:rPr>
              <a:t>Seyni</a:t>
            </a:r>
            <a:endParaRPr lang="en-US" sz="1300" dirty="0"/>
          </a:p>
        </p:txBody>
      </p:sp>
      <p:sp>
        <p:nvSpPr>
          <p:cNvPr id="5" name="accroche"/>
          <p:cNvSpPr txBox="1"/>
          <p:nvPr/>
        </p:nvSpPr>
        <p:spPr>
          <a:xfrm>
            <a:off x="548640" y="1033272"/>
            <a:ext cx="10515600" cy="411480"/>
          </a:xfrm>
          <a:prstGeom prst="rect">
            <a:avLst/>
          </a:prstGeom>
          <a:noFill/>
          <a:ln/>
        </p:spPr>
        <p:txBody>
          <a:bodyPr wrap="square" lIns="0" tIns="0" rIns="0" bIns="0" rtlCol="0" anchor="ctr"/>
          <a:lstStyle/>
          <a:p>
            <a:pPr indent="0" marL="0">
              <a:buNone/>
            </a:pPr>
            <a:r>
              <a:rPr lang="en-US" sz="1600" dirty="0">
                <a:solidFill>
                  <a:schemeClr val="accent5"/>
                </a:solidFill>
              </a:rPr>
              <a:t>Ce qui compte pour le modèle : le temps passé à basse pression en début de cycle.</a:t>
            </a:r>
            <a:endParaRPr lang="en-US" sz="1600" dirty="0"/>
          </a:p>
        </p:txBody>
      </p:sp>
      <p:graphicFrame>
        <p:nvGraphicFramePr>
          <p:cNvPr id="6" name="Chart 0" descr=""/>
          <p:cNvGraphicFramePr/>
          <p:nvPr/>
        </p:nvGraphicFramePr>
        <p:xfrm>
          <a:off x="548640" y="1691640"/>
          <a:ext cx="5120640" cy="26060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4343400"/>
            <a:ext cx="5120640" cy="365760"/>
          </a:xfrm>
          <a:prstGeom prst="rect">
            <a:avLst/>
          </a:prstGeom>
          <a:noFill/>
          <a:ln/>
        </p:spPr>
        <p:txBody>
          <a:bodyPr wrap="square" lIns="0" tIns="0" rIns="0" bIns="0" rtlCol="0" anchor="t"/>
          <a:lstStyle/>
          <a:p>
            <a:pPr indent="0" marL="0">
              <a:buNone/>
            </a:pPr>
            <a:r>
              <a:rPr lang="en-US" sz="1300" i="1" dirty="0">
                <a:solidFill>
                  <a:schemeClr val="accent5"/>
                </a:solidFill>
              </a:rPr>
              <a:t>Écart avec une vanne à 100 % (9,18 s en moyenne).</a:t>
            </a:r>
            <a:endParaRPr lang="en-US" sz="1300" dirty="0"/>
          </a:p>
        </p:txBody>
      </p:sp>
      <p:sp>
        <p:nvSpPr>
          <p:cNvPr id="8" name="carte Une feature décide presque tout"/>
          <p:cNvSpPr/>
          <p:nvPr/>
        </p:nvSpPr>
        <p:spPr>
          <a:xfrm>
            <a:off x="6035040" y="1691640"/>
            <a:ext cx="5605272" cy="1371600"/>
          </a:xfrm>
          <a:prstGeom prst="roundRect">
            <a:avLst>
              <a:gd name="adj" fmla="val 8000"/>
            </a:avLst>
          </a:prstGeom>
          <a:solidFill>
            <a:schemeClr val="bg2"/>
          </a:solidFill>
          <a:ln/>
        </p:spPr>
      </p:sp>
      <p:sp>
        <p:nvSpPr>
          <p:cNvPr id="9" name="Shape 6"/>
          <p:cNvSpPr/>
          <p:nvPr/>
        </p:nvSpPr>
        <p:spPr>
          <a:xfrm>
            <a:off x="6263640" y="1920240"/>
            <a:ext cx="475488" cy="475488"/>
          </a:xfrm>
          <a:prstGeom prst="ellipse">
            <a:avLst/>
          </a:prstGeom>
          <a:solidFill>
            <a:schemeClr val="accent1"/>
          </a:solidFill>
          <a:ln/>
        </p:spPr>
      </p:sp>
      <p:pic>
        <p:nvPicPr>
          <p:cNvPr id="10" name="Image 0" descr="preencoded.png">    </p:cNvPr>
          <p:cNvPicPr>
            <a:picLocks noChangeAspect="1"/>
          </p:cNvPicPr>
          <p:nvPr/>
        </p:nvPicPr>
        <p:blipFill>
          <a:blip r:embed="rId2"/>
          <a:stretch>
            <a:fillRect/>
          </a:stretch>
        </p:blipFill>
        <p:spPr>
          <a:xfrm>
            <a:off x="6382512" y="2039112"/>
            <a:ext cx="237744" cy="237744"/>
          </a:xfrm>
          <a:prstGeom prst="rect">
            <a:avLst/>
          </a:prstGeom>
        </p:spPr>
      </p:pic>
      <p:sp>
        <p:nvSpPr>
          <p:cNvPr id="11" name="Text 7"/>
          <p:cNvSpPr txBox="1"/>
          <p:nvPr/>
        </p:nvSpPr>
        <p:spPr>
          <a:xfrm>
            <a:off x="6903720" y="1920240"/>
            <a:ext cx="4507992" cy="475488"/>
          </a:xfrm>
          <a:prstGeom prst="rect">
            <a:avLst/>
          </a:prstGeom>
          <a:noFill/>
          <a:ln/>
        </p:spPr>
        <p:txBody>
          <a:bodyPr wrap="square" lIns="0" tIns="0" rIns="0" bIns="0" rtlCol="0" anchor="ctr"/>
          <a:lstStyle/>
          <a:p>
            <a:pPr indent="0" marL="0">
              <a:buNone/>
            </a:pPr>
            <a:r>
              <a:rPr lang="en-US" sz="1700" b="1" dirty="0">
                <a:solidFill>
                  <a:schemeClr val="tx2"/>
                </a:solidFill>
              </a:rPr>
              <a:t>Une feature décide presque tout</a:t>
            </a:r>
            <a:endParaRPr lang="en-US" sz="1700" dirty="0"/>
          </a:p>
        </p:txBody>
      </p:sp>
      <p:sp>
        <p:nvSpPr>
          <p:cNvPr id="12" name="Text 8"/>
          <p:cNvSpPr txBox="1"/>
          <p:nvPr/>
        </p:nvSpPr>
        <p:spPr>
          <a:xfrm>
            <a:off x="6903720" y="2468880"/>
            <a:ext cx="4507992" cy="457200"/>
          </a:xfrm>
          <a:prstGeom prst="rect">
            <a:avLst/>
          </a:prstGeom>
          <a:noFill/>
          <a:ln/>
        </p:spPr>
        <p:txBody>
          <a:bodyPr wrap="square" lIns="0" tIns="0" rIns="0" bIns="0" rtlCol="0" anchor="t"/>
          <a:lstStyle/>
          <a:p>
            <a:pPr indent="0" marL="0">
              <a:buNone/>
            </a:pPr>
            <a:r>
              <a:rPr lang="en-US" sz="1400" dirty="0">
                <a:solidFill>
                  <a:schemeClr val="tx1"/>
                </a:solidFill>
              </a:rPr>
              <a:t>Part du cycle entre 0 et 8,4 bar : la mélanger fait perdre 0,49 de F1, chacune des 13 autres moins de 0,004.</a:t>
            </a:r>
            <a:endParaRPr lang="en-US" sz="1400" dirty="0"/>
          </a:p>
        </p:txBody>
      </p:sp>
      <p:sp>
        <p:nvSpPr>
          <p:cNvPr id="13" name="carte Une règle simple, presque aussi bonne"/>
          <p:cNvSpPr/>
          <p:nvPr/>
        </p:nvSpPr>
        <p:spPr>
          <a:xfrm>
            <a:off x="6035040" y="3200400"/>
            <a:ext cx="5605272" cy="1371600"/>
          </a:xfrm>
          <a:prstGeom prst="roundRect">
            <a:avLst>
              <a:gd name="adj" fmla="val 8000"/>
            </a:avLst>
          </a:prstGeom>
          <a:solidFill>
            <a:schemeClr val="bg2"/>
          </a:solidFill>
          <a:ln/>
        </p:spPr>
      </p:sp>
      <p:sp>
        <p:nvSpPr>
          <p:cNvPr id="14" name="Shape 10"/>
          <p:cNvSpPr/>
          <p:nvPr/>
        </p:nvSpPr>
        <p:spPr>
          <a:xfrm>
            <a:off x="6263640" y="3429000"/>
            <a:ext cx="475488" cy="475488"/>
          </a:xfrm>
          <a:prstGeom prst="ellipse">
            <a:avLst/>
          </a:prstGeom>
          <a:solidFill>
            <a:schemeClr val="accent1"/>
          </a:solidFill>
          <a:ln/>
        </p:spPr>
      </p:sp>
      <p:pic>
        <p:nvPicPr>
          <p:cNvPr id="15" name="Image 1" descr="preencoded.png">    </p:cNvPr>
          <p:cNvPicPr>
            <a:picLocks noChangeAspect="1"/>
          </p:cNvPicPr>
          <p:nvPr/>
        </p:nvPicPr>
        <p:blipFill>
          <a:blip r:embed="rId3"/>
          <a:stretch>
            <a:fillRect/>
          </a:stretch>
        </p:blipFill>
        <p:spPr>
          <a:xfrm>
            <a:off x="6382512" y="3547872"/>
            <a:ext cx="237744" cy="237744"/>
          </a:xfrm>
          <a:prstGeom prst="rect">
            <a:avLst/>
          </a:prstGeom>
        </p:spPr>
      </p:pic>
      <p:sp>
        <p:nvSpPr>
          <p:cNvPr id="16" name="Text 11"/>
          <p:cNvSpPr txBox="1"/>
          <p:nvPr/>
        </p:nvSpPr>
        <p:spPr>
          <a:xfrm>
            <a:off x="6903720" y="3429000"/>
            <a:ext cx="4507992" cy="475488"/>
          </a:xfrm>
          <a:prstGeom prst="rect">
            <a:avLst/>
          </a:prstGeom>
          <a:noFill/>
          <a:ln/>
        </p:spPr>
        <p:txBody>
          <a:bodyPr wrap="square" lIns="0" tIns="0" rIns="0" bIns="0" rtlCol="0" anchor="ctr"/>
          <a:lstStyle/>
          <a:p>
            <a:pPr indent="0" marL="0">
              <a:buNone/>
            </a:pPr>
            <a:r>
              <a:rPr lang="en-US" sz="1700" b="1" dirty="0">
                <a:solidFill>
                  <a:schemeClr val="tx2"/>
                </a:solidFill>
              </a:rPr>
              <a:t>Une règle simple, presque aussi bonne</a:t>
            </a:r>
            <a:endParaRPr lang="en-US" sz="1700" dirty="0"/>
          </a:p>
        </p:txBody>
      </p:sp>
      <p:sp>
        <p:nvSpPr>
          <p:cNvPr id="17" name="Text 12"/>
          <p:cNvSpPr txBox="1"/>
          <p:nvPr/>
        </p:nvSpPr>
        <p:spPr>
          <a:xfrm>
            <a:off x="6903720" y="3977640"/>
            <a:ext cx="4507992" cy="457200"/>
          </a:xfrm>
          <a:prstGeom prst="rect">
            <a:avLst/>
          </a:prstGeom>
          <a:noFill/>
          <a:ln/>
        </p:spPr>
        <p:txBody>
          <a:bodyPr wrap="square" lIns="0" tIns="0" rIns="0" bIns="0" rtlCol="0" anchor="t"/>
          <a:lstStyle/>
          <a:p>
            <a:pPr indent="0" marL="0">
              <a:buNone/>
            </a:pPr>
            <a:r>
              <a:rPr lang="en-US" sz="1400" dirty="0">
                <a:solidFill>
                  <a:schemeClr val="tx1"/>
                </a:solidFill>
              </a:rPr>
              <a:t>Vanne optimale si moins de 9,22 s à basse pression : 93,2 % d'exactitude sur le test, contre 98,0 % pour le modèle.</a:t>
            </a:r>
            <a:endParaRPr lang="en-US" sz="1400" dirty="0"/>
          </a:p>
        </p:txBody>
      </p:sp>
      <p:sp>
        <p:nvSpPr>
          <p:cNvPr id="18" name="a retenir"/>
          <p:cNvSpPr/>
          <p:nvPr/>
        </p:nvSpPr>
        <p:spPr>
          <a:xfrm>
            <a:off x="548640" y="4800600"/>
            <a:ext cx="11094415" cy="1371600"/>
          </a:xfrm>
          <a:prstGeom prst="roundRect">
            <a:avLst>
              <a:gd name="adj" fmla="val 8000"/>
            </a:avLst>
          </a:prstGeom>
          <a:solidFill>
            <a:schemeClr val="tx2"/>
          </a:solidFill>
          <a:ln/>
        </p:spPr>
      </p:sp>
      <p:sp>
        <p:nvSpPr>
          <p:cNvPr id="19" name="Text 14"/>
          <p:cNvSpPr txBox="1"/>
          <p:nvPr/>
        </p:nvSpPr>
        <p:spPr>
          <a:xfrm>
            <a:off x="868680" y="4919472"/>
            <a:ext cx="2743200" cy="320040"/>
          </a:xfrm>
          <a:prstGeom prst="rect">
            <a:avLst/>
          </a:prstGeom>
          <a:noFill/>
          <a:ln/>
        </p:spPr>
        <p:txBody>
          <a:bodyPr wrap="square" lIns="0" tIns="0" rIns="0" bIns="0" rtlCol="0" anchor="ctr"/>
          <a:lstStyle/>
          <a:p>
            <a:pPr indent="0" marL="0">
              <a:buNone/>
            </a:pPr>
            <a:r>
              <a:rPr lang="en-US" sz="1500" b="1" dirty="0">
                <a:solidFill>
                  <a:schemeClr val="accent6"/>
                </a:solidFill>
              </a:rPr>
              <a:t>À retenir</a:t>
            </a:r>
            <a:endParaRPr lang="en-US" sz="1500" dirty="0"/>
          </a:p>
        </p:txBody>
      </p:sp>
      <p:sp>
        <p:nvSpPr>
          <p:cNvPr id="20" name="Text 15"/>
          <p:cNvSpPr txBox="1"/>
          <p:nvPr/>
        </p:nvSpPr>
        <p:spPr>
          <a:xfrm>
            <a:off x="868680" y="5303520"/>
            <a:ext cx="3337560" cy="731520"/>
          </a:xfrm>
          <a:prstGeom prst="rect">
            <a:avLst/>
          </a:prstGeom>
          <a:noFill/>
          <a:ln/>
        </p:spPr>
        <p:txBody>
          <a:bodyPr wrap="square" lIns="0" tIns="0" rIns="0" bIns="0" rtlCol="0" anchor="t"/>
          <a:lstStyle/>
          <a:p>
            <a:pPr indent="0" marL="0">
              <a:buNone/>
            </a:pPr>
            <a:r>
              <a:rPr lang="en-US" sz="1400" dirty="0">
                <a:solidFill>
                  <a:schemeClr val="bg1"/>
                </a:solidFill>
              </a:rPr>
              <a:t>Deux capteurs suffisent : l'usure se lit dans le retard de montée en pression.</a:t>
            </a:r>
            <a:endParaRPr lang="en-US" sz="1400" dirty="0"/>
          </a:p>
        </p:txBody>
      </p:sp>
      <p:sp>
        <p:nvSpPr>
          <p:cNvPr id="21" name="Text 16"/>
          <p:cNvSpPr txBox="1"/>
          <p:nvPr/>
        </p:nvSpPr>
        <p:spPr>
          <a:xfrm>
            <a:off x="4480560" y="5303520"/>
            <a:ext cx="3337560" cy="731520"/>
          </a:xfrm>
          <a:prstGeom prst="rect">
            <a:avLst/>
          </a:prstGeom>
          <a:noFill/>
          <a:ln/>
        </p:spPr>
        <p:txBody>
          <a:bodyPr wrap="square" lIns="0" tIns="0" rIns="0" bIns="0" rtlCol="0" anchor="t"/>
          <a:lstStyle/>
          <a:p>
            <a:pPr indent="0" marL="0">
              <a:buNone/>
            </a:pPr>
            <a:r>
              <a:rPr lang="en-US" sz="1400" dirty="0">
                <a:solidFill>
                  <a:schemeClr val="bg1"/>
                </a:solidFill>
              </a:rPr>
              <a:t>Un découpage honnête évite un score trompeur : le test simule des cycles futurs.</a:t>
            </a:r>
            <a:endParaRPr lang="en-US" sz="1400" dirty="0"/>
          </a:p>
        </p:txBody>
      </p:sp>
      <p:sp>
        <p:nvSpPr>
          <p:cNvPr id="22" name="Text 17"/>
          <p:cNvSpPr txBox="1"/>
          <p:nvPr/>
        </p:nvSpPr>
        <p:spPr>
          <a:xfrm>
            <a:off x="8092440" y="5303520"/>
            <a:ext cx="3337560" cy="731520"/>
          </a:xfrm>
          <a:prstGeom prst="rect">
            <a:avLst/>
          </a:prstGeom>
          <a:noFill/>
          <a:ln/>
        </p:spPr>
        <p:txBody>
          <a:bodyPr wrap="square" lIns="0" tIns="0" rIns="0" bIns="0" rtlCol="0" anchor="t"/>
          <a:lstStyle/>
          <a:p>
            <a:pPr indent="0" marL="0">
              <a:buNone/>
            </a:pPr>
            <a:r>
              <a:rPr lang="en-US" sz="1400" dirty="0">
                <a:solidFill>
                  <a:schemeClr val="bg1"/>
                </a:solidFill>
              </a:rPr>
              <a:t>Limite : l'usure légère (90 %) reste la plus difficile à détecter.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Vanne hydraulique">
  <a:themeElements>
    <a:clrScheme name="Vanne hydraulique">
      <a:dk1>
        <a:srgbClr val="1A2B36"/>
      </a:dk1>
      <a:lt1>
        <a:srgbClr val="FFFFFF"/>
      </a:lt1>
      <a:dk2>
        <a:srgbClr val="0B2233"/>
      </a:dk2>
      <a:lt2>
        <a:srgbClr val="EEF3F6"/>
      </a:lt2>
      <a:accent1>
        <a:srgbClr val="1C7C7D"/>
      </a:accent1>
      <a:accent2>
        <a:srgbClr val="E07A2E"/>
      </a:accent2>
      <a:accent3>
        <a:srgbClr val="F2B36B"/>
      </a:accent3>
      <a:accent4>
        <a:srgbClr val="A9441A"/>
      </a:accent4>
      <a:accent5>
        <a:srgbClr val="5B6B76"/>
      </a:accent5>
      <a:accent6>
        <a:srgbClr val="7FC4C4"/>
      </a:accent6>
      <a:hlink>
        <a:srgbClr val="1C7C7D"/>
      </a:hlink>
      <a:folHlink>
        <a:srgbClr val="5B6B76"/>
      </a:folHlink>
    </a:clrScheme>
    <a:fontScheme name="Vanne hydrauliq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Maintenance prédictive d'une vanne hydraulique</dc:title>
  <dc:subject>PptxGenJS Presentation</dc:subject>
  <dc:creator>Fode, Ascelle, Seyni</dc:creator>
  <cp:lastModifiedBy>Fode, Ascelle, Seyni</cp:lastModifiedBy>
  <cp:revision>1</cp:revision>
  <dcterms:created xsi:type="dcterms:W3CDTF">2026-10-14T16:26:43Z</dcterms:created>
  <dcterms:modified xsi:type="dcterms:W3CDTF">2026-10-14T16:26:43Z</dcterms:modified>
</cp:coreProperties>
</file>